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sldIdLst>
    <p:sldId id="256" r:id="rId5"/>
    <p:sldId id="293" r:id="rId6"/>
    <p:sldId id="260" r:id="rId7"/>
    <p:sldId id="307" r:id="rId8"/>
    <p:sldId id="267" r:id="rId9"/>
    <p:sldId id="261" r:id="rId10"/>
    <p:sldId id="262" r:id="rId11"/>
    <p:sldId id="263" r:id="rId12"/>
    <p:sldId id="264" r:id="rId13"/>
    <p:sldId id="294" r:id="rId14"/>
    <p:sldId id="268" r:id="rId15"/>
    <p:sldId id="296" r:id="rId16"/>
    <p:sldId id="297" r:id="rId17"/>
    <p:sldId id="299" r:id="rId18"/>
    <p:sldId id="298" r:id="rId19"/>
    <p:sldId id="269" r:id="rId20"/>
    <p:sldId id="270" r:id="rId21"/>
    <p:sldId id="295" r:id="rId22"/>
    <p:sldId id="272" r:id="rId23"/>
    <p:sldId id="277" r:id="rId24"/>
    <p:sldId id="276" r:id="rId25"/>
    <p:sldId id="278" r:id="rId26"/>
    <p:sldId id="279" r:id="rId27"/>
    <p:sldId id="292" r:id="rId28"/>
    <p:sldId id="280" r:id="rId29"/>
    <p:sldId id="274" r:id="rId30"/>
    <p:sldId id="300" r:id="rId31"/>
    <p:sldId id="301" r:id="rId32"/>
    <p:sldId id="302" r:id="rId33"/>
    <p:sldId id="275" r:id="rId34"/>
    <p:sldId id="303" r:id="rId35"/>
    <p:sldId id="304" r:id="rId36"/>
    <p:sldId id="305" r:id="rId37"/>
    <p:sldId id="30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C6A18F-8C72-2A48-3774-484F79C45A59}" v="7" dt="2025-03-20T05:31:44.559"/>
    <p1510:client id="{5286AEBE-628E-BEED-7051-AD1E41F139F9}" v="549" dt="2025-03-19T11:43:34.810"/>
    <p1510:client id="{B8C095E7-A43C-F949-E596-D50BF1BA2DA6}" v="25" dt="2025-03-21T01:17:11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5954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80963-EC29-43B6-BDA0-25EF8F4CC634}" type="datetimeFigureOut">
              <a:t>3/20/2025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61408-C0A0-4D2C-BA45-9202BC53B1A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7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BFS and IDS always pick the shortest route</a:t>
            </a:r>
            <a:r>
              <a:rPr lang="en-US" dirty="0"/>
              <a:t> (2 steps, $5).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But the </a:t>
            </a:r>
            <a:r>
              <a:rPr lang="en-US" b="1" dirty="0"/>
              <a:t>longer route (4 steps, $3) is actually cheaper</a:t>
            </a:r>
            <a:r>
              <a:rPr lang="en-US" dirty="0"/>
              <a:t>!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BFS and IDS </a:t>
            </a:r>
            <a:r>
              <a:rPr lang="en-US" b="1" dirty="0"/>
              <a:t>fail to find the best (cheapest) path</a:t>
            </a:r>
            <a:r>
              <a:rPr lang="en-US" dirty="0"/>
              <a:t> because they do not check cost.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61408-C0A0-4D2C-BA45-9202BC53B1AD}" type="slidenum"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99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302C-995B-4A06-8C72-583343AD2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DCC4D-C6E8-47DA-8CA0-6F5710260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0883C-6CBD-41B0-9447-762E96C5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AA421-DE6C-49E3-93B5-BC5083E6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2FE4D-05FA-464F-90F5-DACAD626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885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6DC7-BDD4-491A-A9A4-C1FA92ED2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7B09B-2134-4BD4-AC27-7DDE8B6D9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AB0E0-5CA4-45D2-BB6A-1756DAF3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7CC2D-8D32-4126-9FA5-0F2EBAFB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5E119-CF99-499E-8CE9-C5549EDE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007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DDB5-B425-49A0-BD23-3DFC46FB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FB97E-D969-486C-A250-46D02FF2F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BD9A7-0095-4CA6-B533-5EEA4D41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1DCFA-B131-40DF-949D-06FFFD55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84B8F-EC8E-4337-9C0C-34463FFB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383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4E787-2702-45CB-8C17-43D2610B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8C1D4-CB81-4CE6-AADA-8A2C6E271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1307F-44EB-4E9A-B336-AA03BFFCD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C2B4A-CF49-4E5C-AF92-C9909E59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C4FB4-353D-44F0-9D88-3FFE7CBAF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2ABE5-CAA2-4775-839A-0D22E14D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20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8453-0C46-4031-8B5E-E2F03D13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1157B-DF58-4CF9-9B33-3C6E186F8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906C8-2EDD-49A5-9864-210AFB69E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63842-795B-4CD7-983A-DB5AAB989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6E493-7A12-4E15-8857-B0D6CCD96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8D911-E726-40B7-B2E4-57185B25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D53C0-5A3C-445C-8EA2-B3D6E2F0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6D059A-A91E-45A6-93CF-0253D477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42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8FCD-8E01-4E2F-B292-26DB3D37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0C8B2-47DD-4419-B9CC-A07B7777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C53B5-32E3-4D03-9157-A4C53097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D9AD9-8E6B-4932-AE08-00015F34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66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8E6F7B-40BD-4B44-99CB-F4859139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E728D8-C107-41E9-B6B3-FEB032A1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E8F81-6B1B-4881-AA87-242E49FE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397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D878-0B10-4F82-9BC8-21B98CB7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9C9B6-E7A0-4CB9-A488-23AD0ABA1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83DDF-151E-43B9-884F-F77D2BC5A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8CFBC-A895-4731-BD6D-6DB579BF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B3BCF-8C56-4884-8DE7-15D0D733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20761-93AB-41DF-AAAF-3AF76D6E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37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123A-24B4-4F96-A07E-BAA708589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0BD5CD-2742-4634-AF7B-DFA8CA206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67C05-5AFC-4F6E-80BD-53E8D4425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20B29-9437-47F9-8F1C-E31C94CC3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C27B9-E2BE-4034-ACEB-A56026CDB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1A46A-D4BA-4F36-A8C3-19D626531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242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F4F1D-E3CE-4C71-9545-5285D06E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00BCE-2EC0-493E-99FD-6CC47266C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C2A8E-8428-44E5-A136-23EC10E20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0722E-AA07-4BEF-868F-AC4EE852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31BF1-CC60-4BF4-95DF-DF411A71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606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481CC-F118-4CA4-9F50-6D4D1948A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F93B6-AD87-4BB8-AF61-3F7F52ACA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4282B-49A8-427F-B944-15D1A15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F9F18-FAAE-4E79-9ADF-8CD3F358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77442-867F-409C-8B0A-EF57DD83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661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7FCAC-8DD1-4FE5-A8E9-21090677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F8061-9162-4B27-B4AD-4F3281080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9A825-714C-4970-B9DE-D09FB3A2F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373BB-3CCA-438E-879F-614DF5C9D488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3FCB5-BF75-4878-86FF-9856F4C3C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3C21C-D6DE-4CD1-B34E-B9F7A0685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05F4D-A1C5-4BBD-A515-9754CA2517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98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shape.github.io/visual-graph-algorithms/" TargetMode="External"/><Relationship Id="rId2" Type="http://schemas.openxmlformats.org/officeDocument/2006/relationships/hyperlink" Target="https://www.cs.usfca.edu/~galles/visualization/BF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cs.usfca.edu/~galles/visualization/DFS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www.educative.io/edpresso/what-is-iterative-deepening-search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_yl2a6n7nM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F327-20FE-40E9-914D-1D2073900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COMP30024 </a:t>
            </a:r>
            <a:br>
              <a:rPr lang="en-US" altLang="zh-CN" dirty="0"/>
            </a:br>
            <a:r>
              <a:rPr lang="en-US" altLang="zh-CN" dirty="0"/>
              <a:t>Artificial Intelligence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8685D-C4BF-4437-88D7-545CECF93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altLang="zh-CN" dirty="0"/>
          </a:p>
          <a:p>
            <a:r>
              <a:rPr lang="en-US" altLang="zh-CN" dirty="0">
                <a:ea typeface="等线"/>
              </a:rPr>
              <a:t>Week3 Tutorial</a:t>
            </a:r>
            <a:endParaRPr lang="en-AU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01925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9DD53-136C-A80D-4B78-31224040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Project Part A Released!</a:t>
            </a:r>
            <a:endParaRPr lang="en-US" dirty="0"/>
          </a:p>
        </p:txBody>
      </p:sp>
      <p:pic>
        <p:nvPicPr>
          <p:cNvPr id="4" name="Content Placeholder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557D453-DC87-6515-BE8E-BF8446689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312" y="2014619"/>
            <a:ext cx="11503377" cy="3140794"/>
          </a:xfrm>
        </p:spPr>
      </p:pic>
    </p:spTree>
    <p:extLst>
      <p:ext uri="{BB962C8B-B14F-4D97-AF65-F5344CB8AC3E}">
        <p14:creationId xmlns:p14="http://schemas.microsoft.com/office/powerpoint/2010/main" val="1335061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Weekly Topic Review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zh-CN" dirty="0"/>
              <a:t>Searching Strategies are evaluated along the following dimensions:</a:t>
            </a:r>
          </a:p>
          <a:p>
            <a:pPr lvl="1"/>
            <a:r>
              <a:rPr lang="en-AU" altLang="zh-CN" u="sng" dirty="0"/>
              <a:t>completeness</a:t>
            </a:r>
            <a:r>
              <a:rPr lang="en-AU" altLang="zh-CN" dirty="0"/>
              <a:t>—does it always find a solution if one exists?</a:t>
            </a:r>
          </a:p>
          <a:p>
            <a:pPr lvl="1"/>
            <a:r>
              <a:rPr lang="en-AU" altLang="zh-CN" u="sng" dirty="0"/>
              <a:t>time complexity</a:t>
            </a:r>
            <a:r>
              <a:rPr lang="en-AU" altLang="zh-CN" dirty="0"/>
              <a:t>—number of nodes generated/expanded</a:t>
            </a:r>
          </a:p>
          <a:p>
            <a:pPr lvl="1"/>
            <a:r>
              <a:rPr lang="en-AU" altLang="zh-CN" u="sng" dirty="0"/>
              <a:t>space complexity</a:t>
            </a:r>
            <a:r>
              <a:rPr lang="en-AU" altLang="zh-CN" dirty="0"/>
              <a:t>—maximum number of nodes in memory</a:t>
            </a:r>
          </a:p>
          <a:p>
            <a:pPr lvl="1"/>
            <a:r>
              <a:rPr lang="en-AU" altLang="zh-CN" u="sng" dirty="0"/>
              <a:t>optimality</a:t>
            </a:r>
            <a:r>
              <a:rPr lang="en-AU" altLang="zh-CN" dirty="0"/>
              <a:t>—does it always find a least-cost solution?</a:t>
            </a:r>
          </a:p>
          <a:p>
            <a:pPr lvl="1"/>
            <a:endParaRPr lang="en-AU" altLang="zh-CN" dirty="0"/>
          </a:p>
          <a:p>
            <a:r>
              <a:rPr lang="en-AU" altLang="zh-CN" dirty="0"/>
              <a:t>Time and space complexity are measured in terms of</a:t>
            </a:r>
          </a:p>
          <a:p>
            <a:pPr lvl="1"/>
            <a:r>
              <a:rPr lang="en-AU" altLang="zh-CN" u="sng" dirty="0"/>
              <a:t>b</a:t>
            </a:r>
            <a:r>
              <a:rPr lang="en-AU" altLang="zh-CN" dirty="0"/>
              <a:t>—maximum branching factor of the search tree</a:t>
            </a:r>
          </a:p>
          <a:p>
            <a:pPr lvl="1"/>
            <a:r>
              <a:rPr lang="en-AU" altLang="zh-CN" u="sng" dirty="0"/>
              <a:t>d</a:t>
            </a:r>
            <a:r>
              <a:rPr lang="en-AU" altLang="zh-CN" dirty="0"/>
              <a:t>—depth of the least-cost solution</a:t>
            </a:r>
          </a:p>
          <a:p>
            <a:pPr lvl="1"/>
            <a:r>
              <a:rPr lang="en-AU" altLang="zh-CN" u="sng" dirty="0"/>
              <a:t>m</a:t>
            </a:r>
            <a:r>
              <a:rPr lang="en-AU" altLang="zh-CN" dirty="0"/>
              <a:t>—maximum depth of the state space (may be ∞)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8832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0F2E-38B6-F186-4C8F-87E31B1CC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60D21-4558-7523-8FBD-BE46E288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Weekly Topic Review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271DF-BC55-CD94-111B-8CB9F59DA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AU" altLang="zh-CN" u="sng" dirty="0">
                <a:ea typeface="等线"/>
              </a:rPr>
              <a:t>b</a:t>
            </a:r>
            <a:r>
              <a:rPr lang="en-AU" altLang="zh-CN" dirty="0">
                <a:ea typeface="等线"/>
              </a:rPr>
              <a:t>—maximum branching factor of the search tree</a:t>
            </a:r>
          </a:p>
          <a:p>
            <a:pPr marL="0" indent="0">
              <a:buNone/>
            </a:pPr>
            <a:endParaRPr lang="en-AU" altLang="zh-CN" dirty="0">
              <a:ea typeface="等线"/>
              <a:cs typeface="Calibri" panose="020F0502020204030204"/>
            </a:endParaRPr>
          </a:p>
        </p:txBody>
      </p:sp>
      <p:pic>
        <p:nvPicPr>
          <p:cNvPr id="6" name="图片 5" descr="Tic Tac Toe: Understanding the Minimax Algorithm — Never Stop Building -  Crafting Wood with Japanese Techniques">
            <a:extLst>
              <a:ext uri="{FF2B5EF4-FFF2-40B4-BE49-F238E27FC236}">
                <a16:creationId xmlns:a16="http://schemas.microsoft.com/office/drawing/2014/main" id="{B82CD675-A87F-233C-F022-834F819A6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565" y="2384412"/>
            <a:ext cx="5746810" cy="4345584"/>
          </a:xfrm>
          <a:prstGeom prst="rect">
            <a:avLst/>
          </a:prstGeom>
        </p:spPr>
      </p:pic>
      <p:pic>
        <p:nvPicPr>
          <p:cNvPr id="7" name="图片 6" descr="形状&#10;&#10;AI 生成的内容可能不正确。">
            <a:extLst>
              <a:ext uri="{FF2B5EF4-FFF2-40B4-BE49-F238E27FC236}">
                <a16:creationId xmlns:a16="http://schemas.microsoft.com/office/drawing/2014/main" id="{04AD5476-DBDB-3076-5F5A-631E67CFE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29" y="3541446"/>
            <a:ext cx="5444971" cy="245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7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Weekly Topic Review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/>
              <a:t>Uninformed search methods</a:t>
            </a:r>
          </a:p>
          <a:p>
            <a:endParaRPr lang="en-US" altLang="zh-CN" dirty="0"/>
          </a:p>
          <a:p>
            <a:pPr lvl="1"/>
            <a:r>
              <a:rPr lang="en-US" altLang="zh-CN" dirty="0">
                <a:ea typeface="等线"/>
              </a:rPr>
              <a:t>Also called </a:t>
            </a:r>
            <a:r>
              <a:rPr lang="en-AU" altLang="zh-CN" b="1" dirty="0">
                <a:ea typeface="等线"/>
              </a:rPr>
              <a:t>blind search </a:t>
            </a:r>
            <a:r>
              <a:rPr lang="en-AU" altLang="zh-CN" dirty="0">
                <a:ea typeface="等线"/>
              </a:rPr>
              <a:t>or </a:t>
            </a:r>
            <a:r>
              <a:rPr lang="en-AU" altLang="zh-CN" b="1" dirty="0">
                <a:ea typeface="等线"/>
              </a:rPr>
              <a:t>unguided search</a:t>
            </a:r>
            <a:r>
              <a:rPr lang="en-AU" altLang="zh-CN" dirty="0">
                <a:ea typeface="等线"/>
              </a:rPr>
              <a:t>, is a class of </a:t>
            </a:r>
            <a:r>
              <a:rPr lang="en-AU" altLang="zh-CN" b="1" dirty="0">
                <a:ea typeface="等线"/>
              </a:rPr>
              <a:t>general purpose</a:t>
            </a:r>
            <a:r>
              <a:rPr lang="en-AU" altLang="zh-CN" dirty="0">
                <a:ea typeface="等线"/>
              </a:rPr>
              <a:t> search algorithms that operate in a brute-force way</a:t>
            </a:r>
            <a:endParaRPr lang="en-AU" altLang="zh-CN">
              <a:ea typeface="等线"/>
              <a:cs typeface="Calibri"/>
            </a:endParaRPr>
          </a:p>
          <a:p>
            <a:pPr lvl="1"/>
            <a:endParaRPr lang="en-US" altLang="zh-CN" dirty="0"/>
          </a:p>
          <a:p>
            <a:pPr lvl="1"/>
            <a:r>
              <a:rPr lang="en-AU" altLang="zh-CN" dirty="0"/>
              <a:t>limited to taking actions and performing a goal test, and do not have access to any further domain knowledge</a:t>
            </a:r>
          </a:p>
          <a:p>
            <a:pPr lvl="1"/>
            <a:endParaRPr lang="en-AU" altLang="zh-CN" dirty="0"/>
          </a:p>
          <a:p>
            <a:pPr lvl="1"/>
            <a:r>
              <a:rPr lang="en-US" altLang="zh-CN" dirty="0">
                <a:ea typeface="等线"/>
              </a:rPr>
              <a:t>E.g. Breadth-first search, Depth-first search, Iterative deepening depth-first search, Bidirectional search</a:t>
            </a:r>
            <a:endParaRPr lang="en-US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9762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Weekly Topic Review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Informed search methods</a:t>
            </a:r>
          </a:p>
          <a:p>
            <a:endParaRPr lang="en-US" altLang="zh-CN" dirty="0"/>
          </a:p>
          <a:p>
            <a:pPr lvl="1"/>
            <a:r>
              <a:rPr lang="en-AU" altLang="zh-CN" dirty="0"/>
              <a:t>If information is available about the problem this </a:t>
            </a:r>
            <a:r>
              <a:rPr lang="en-AU" altLang="zh-CN" b="1" dirty="0"/>
              <a:t>could guide the search </a:t>
            </a:r>
            <a:r>
              <a:rPr lang="en-AU" altLang="zh-CN" dirty="0"/>
              <a:t>(for example in finding the shortest route in a map: information about distances between places on map)</a:t>
            </a:r>
          </a:p>
          <a:p>
            <a:pPr lvl="1"/>
            <a:endParaRPr lang="en-US" altLang="zh-CN" dirty="0"/>
          </a:p>
          <a:p>
            <a:pPr lvl="1"/>
            <a:r>
              <a:rPr lang="en-AU" altLang="zh-CN" dirty="0"/>
              <a:t>Information is put in an evaluation function f(n) to be able to give a value to each state.</a:t>
            </a:r>
          </a:p>
          <a:p>
            <a:pPr lvl="1"/>
            <a:endParaRPr lang="en-AU" altLang="zh-CN" dirty="0"/>
          </a:p>
          <a:p>
            <a:pPr lvl="1"/>
            <a:r>
              <a:rPr lang="en-US" altLang="zh-CN" dirty="0"/>
              <a:t>E.g. Greedy Search, A* Search</a:t>
            </a:r>
          </a:p>
        </p:txBody>
      </p:sp>
      <p:pic>
        <p:nvPicPr>
          <p:cNvPr id="4" name="Picture 3" descr="Search Algorithms in AI - GeeksforGeeks">
            <a:extLst>
              <a:ext uri="{FF2B5EF4-FFF2-40B4-BE49-F238E27FC236}">
                <a16:creationId xmlns:a16="http://schemas.microsoft.com/office/drawing/2014/main" id="{AC022627-2318-F202-B07C-10C45617D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935" y="364236"/>
            <a:ext cx="7063664" cy="257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67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Breadth-first search (BFS)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E5BEA-F003-4BBA-880B-6B41B788C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AU" altLang="zh-CN" dirty="0"/>
                  <a:t>Breadth-first search (BFS) expands the shallowest unexpanded node, and hence maintains a FIFO (First in, </a:t>
                </a:r>
                <a:r>
                  <a:rPr lang="en-US" altLang="zh-CN" dirty="0"/>
                  <a:t>first out</a:t>
                </a:r>
                <a:r>
                  <a:rPr lang="en-AU" altLang="zh-CN" dirty="0"/>
                  <a:t>)queue for the frontier (i.e. the set of unexpanded visited nodes). </a:t>
                </a:r>
              </a:p>
              <a:p>
                <a:r>
                  <a:rPr lang="en-AU" altLang="zh-CN" dirty="0"/>
                  <a:t>BFS systematically explores the search space and is therefore </a:t>
                </a:r>
                <a:r>
                  <a:rPr lang="en-AU" altLang="zh-CN" dirty="0">
                    <a:solidFill>
                      <a:srgbClr val="92D050"/>
                    </a:solidFill>
                  </a:rPr>
                  <a:t>complete</a:t>
                </a:r>
                <a:r>
                  <a:rPr lang="en-AU" altLang="zh-CN" dirty="0"/>
                  <a:t> (provided the state space is finite), but </a:t>
                </a:r>
                <a:r>
                  <a:rPr lang="en-AU" altLang="zh-CN" dirty="0">
                    <a:solidFill>
                      <a:srgbClr val="FF0000"/>
                    </a:solidFill>
                  </a:rPr>
                  <a:t>not optimal </a:t>
                </a:r>
                <a:r>
                  <a:rPr lang="en-AU" altLang="zh-CN" dirty="0"/>
                  <a:t>in general. </a:t>
                </a:r>
              </a:p>
              <a:p>
                <a:r>
                  <a:rPr lang="en-AU" altLang="zh-CN" dirty="0"/>
                  <a:t>Space Complexity: </a:t>
                </a:r>
                <a14:m>
                  <m:oMath xmlns:m="http://schemas.openxmlformats.org/officeDocument/2006/math">
                    <m:r>
                      <a:rPr lang="en-AU" altLang="zh-CN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AU" altLang="zh-CN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altLang="zh-CN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lang="en-AU" altLang="zh-CN" dirty="0"/>
              </a:p>
              <a:p>
                <a:r>
                  <a:rPr lang="en-AU" altLang="zh-CN" dirty="0"/>
                  <a:t>Time Complexity: </a:t>
                </a:r>
                <a14:m>
                  <m:oMath xmlns:m="http://schemas.openxmlformats.org/officeDocument/2006/math">
                    <m:r>
                      <a:rPr lang="en-AU" altLang="zh-CN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AU" altLang="zh-CN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altLang="zh-CN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lang="en-AU" altLang="zh-CN" dirty="0"/>
              </a:p>
              <a:p>
                <a:r>
                  <a:rPr lang="en-AU" altLang="zh-CN" dirty="0"/>
                  <a:t>Visualization: </a:t>
                </a:r>
                <a:r>
                  <a:rPr lang="en-AU" altLang="zh-CN" dirty="0">
                    <a:hlinkClick r:id="rId2"/>
                  </a:rPr>
                  <a:t>https://www.cs.usfca.edu/~galles/visualization/BFS.html</a:t>
                </a:r>
                <a:endParaRPr lang="en-AU" altLang="zh-CN" dirty="0"/>
              </a:p>
              <a:p>
                <a:r>
                  <a:rPr lang="en-AU" altLang="zh-CN" dirty="0">
                    <a:hlinkClick r:id="rId3"/>
                  </a:rPr>
                  <a:t>https://workshape.github.io/visual-graph-algorithms/</a:t>
                </a:r>
                <a:r>
                  <a:rPr lang="zh-CN" altLang="en-US" dirty="0"/>
                  <a:t> </a:t>
                </a: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E5BEA-F003-4BBA-880B-6B41B788C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65" t="-2035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D8DC7E7-E44F-4AF6-A84E-FB8F1CD58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1121" y="4258986"/>
            <a:ext cx="41529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78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Depth-first search (DFS)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E5BEA-F003-4BBA-880B-6B41B788C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AU" altLang="zh-CN" dirty="0"/>
                  <a:t>Depth-first search (DFS) expands the most recently generated node first, and hence may be considered to maintain a LIFO(Last In, First Out) queue for the frontier. </a:t>
                </a:r>
              </a:p>
              <a:p>
                <a:r>
                  <a:rPr lang="en-AU" altLang="zh-CN" dirty="0"/>
                  <a:t>It fails to systematically explore the search space on in-definitely large graphs, but will eventually explore the finite space on acyclic finite graphs. For this reason it is </a:t>
                </a:r>
                <a:r>
                  <a:rPr lang="en-AU" altLang="zh-CN" dirty="0">
                    <a:solidFill>
                      <a:srgbClr val="FF0000"/>
                    </a:solidFill>
                  </a:rPr>
                  <a:t>neither complete nor optimal </a:t>
                </a:r>
                <a:r>
                  <a:rPr lang="en-AU" altLang="zh-CN" dirty="0"/>
                  <a:t>(as it returns the first goal state found, not guaranteed to be that of minimal cost).</a:t>
                </a:r>
              </a:p>
              <a:p>
                <a:r>
                  <a:rPr lang="en-AU" altLang="zh-CN" dirty="0"/>
                  <a:t>Space Complexity: O(bm), where m is the maximum depth of the tree</a:t>
                </a:r>
              </a:p>
              <a:p>
                <a:r>
                  <a:rPr lang="en-AU" altLang="zh-CN" dirty="0"/>
                  <a:t>Time Complexity: </a:t>
                </a:r>
                <a14:m>
                  <m:oMath xmlns:m="http://schemas.openxmlformats.org/officeDocument/2006/math">
                    <m:r>
                      <a:rPr lang="en-AU" altLang="zh-CN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AU" altLang="zh-CN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m</m:t>
                            </m:r>
                          </m:sup>
                        </m:sSup>
                      </m:e>
                    </m:d>
                  </m:oMath>
                </a14:m>
                <a:endParaRPr lang="en-AU" altLang="zh-CN" dirty="0"/>
              </a:p>
              <a:p>
                <a:r>
                  <a:rPr lang="en-AU" altLang="zh-CN" dirty="0"/>
                  <a:t>Visualization: </a:t>
                </a:r>
                <a:r>
                  <a:rPr lang="en-AU" altLang="zh-CN" dirty="0">
                    <a:hlinkClick r:id="rId2"/>
                  </a:rPr>
                  <a:t>https://www.cs.usfca.edu/~galles/visualization/DFS.html</a:t>
                </a:r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E5BEA-F003-4BBA-880B-6B41B788C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035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751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deepening search (IDS)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E5BEA-F003-4BBA-880B-6B41B788C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altLang="zh-CN" dirty="0"/>
                  <a:t>Iterative deepening search (IDS) combines the best parts of BFS and DFS, iteratively performing DFS until the goal state is found (or it reaches some maximum depth limit). </a:t>
                </a:r>
              </a:p>
              <a:p>
                <a:r>
                  <a:rPr lang="en-AU" altLang="zh-CN" dirty="0"/>
                  <a:t>The same caveats for optimality from BFS apply here. Unlike DFS, IDS is optimal on finite acyclic graphs. </a:t>
                </a:r>
              </a:p>
              <a:p>
                <a:r>
                  <a:rPr lang="en-AU" altLang="zh-CN" dirty="0"/>
                  <a:t>Space Complexity: O(b</a:t>
                </a:r>
                <a:r>
                  <a:rPr lang="en-US" altLang="zh-CN" dirty="0"/>
                  <a:t>d</a:t>
                </a:r>
                <a:r>
                  <a:rPr lang="en-AU" altLang="zh-CN" dirty="0"/>
                  <a:t>)</a:t>
                </a:r>
              </a:p>
              <a:p>
                <a:r>
                  <a:rPr lang="en-AU" altLang="zh-CN" dirty="0"/>
                  <a:t>Time Complexity: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AU" altLang="zh-C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lang="en-AU" altLang="zh-CN" dirty="0"/>
              </a:p>
              <a:p>
                <a:r>
                  <a:rPr lang="en-AU" altLang="zh-CN" dirty="0"/>
                  <a:t>Visualization: </a:t>
                </a:r>
                <a:r>
                  <a:rPr lang="en-AU" altLang="zh-CN" dirty="0">
                    <a:hlinkClick r:id="rId2"/>
                  </a:rPr>
                  <a:t>https://www.educative.io/edpresso/what-is-iterative-deepening-search</a:t>
                </a:r>
                <a:r>
                  <a:rPr lang="en-AU" altLang="zh-CN" dirty="0"/>
                  <a:t> 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E5BEA-F003-4BBA-880B-6B41B788C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87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7D85A-AD53-5875-86DF-556FD476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948D-DCD3-F044-4D8B-FBB176D9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 Light"/>
              </a:rPr>
              <a:t>Problems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1BAB22-F8E6-8D05-E9C6-2F95E7FEF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Question 1 (b)</a:t>
            </a:r>
          </a:p>
          <a:p>
            <a:r>
              <a:rPr lang="en-US" dirty="0">
                <a:ea typeface="Calibri"/>
                <a:cs typeface="Calibri"/>
              </a:rPr>
              <a:t>Question 2</a:t>
            </a:r>
          </a:p>
          <a:p>
            <a:r>
              <a:rPr lang="en-US" dirty="0">
                <a:ea typeface="Calibri"/>
                <a:cs typeface="Calibri"/>
              </a:rPr>
              <a:t>Question 4</a:t>
            </a:r>
          </a:p>
        </p:txBody>
      </p:sp>
    </p:spTree>
    <p:extLst>
      <p:ext uri="{BB962C8B-B14F-4D97-AF65-F5344CB8AC3E}">
        <p14:creationId xmlns:p14="http://schemas.microsoft.com/office/powerpoint/2010/main" val="3253734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  <a:r>
              <a:rPr lang="en-AU" altLang="zh-CN" dirty="0"/>
              <a:t>Toy Graphs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/>
              <a:t>In BFS and DFS, a node is marked </a:t>
            </a:r>
            <a:r>
              <a:rPr lang="en-AU" b="1" dirty="0"/>
              <a:t>generated</a:t>
            </a:r>
            <a:r>
              <a:rPr lang="en-AU" dirty="0"/>
              <a:t> when it is first discovered, then marked </a:t>
            </a:r>
            <a:r>
              <a:rPr lang="en-AU" b="1" dirty="0"/>
              <a:t>expanded</a:t>
            </a:r>
            <a:r>
              <a:rPr lang="en-AU" dirty="0"/>
              <a:t> when its successor states have been generated. At any given moment, several nodes might simultaneously be in the </a:t>
            </a:r>
            <a:r>
              <a:rPr lang="en-AU" b="1" dirty="0"/>
              <a:t>generated</a:t>
            </a:r>
            <a:r>
              <a:rPr lang="en-AU" dirty="0"/>
              <a:t> (but not yet expanded ) state.</a:t>
            </a:r>
            <a:endParaRPr lang="en-AU" altLang="zh-CN" dirty="0"/>
          </a:p>
          <a:p>
            <a:r>
              <a:rPr lang="en-AU" altLang="zh-CN" dirty="0">
                <a:ea typeface="等线"/>
              </a:rPr>
              <a:t>(a) Describe a graph on </a:t>
            </a:r>
            <a:r>
              <a:rPr lang="en-AU" altLang="zh-CN" b="1" dirty="0">
                <a:ea typeface="等线"/>
              </a:rPr>
              <a:t>n</a:t>
            </a:r>
            <a:r>
              <a:rPr lang="en-AU" altLang="zh-CN" dirty="0">
                <a:ea typeface="等线"/>
              </a:rPr>
              <a:t> vertices and root </a:t>
            </a:r>
            <a:r>
              <a:rPr lang="en-AU" altLang="zh-CN" b="1" dirty="0">
                <a:ea typeface="等线"/>
              </a:rPr>
              <a:t>v</a:t>
            </a:r>
            <a:r>
              <a:rPr lang="en-AU" altLang="zh-CN" dirty="0">
                <a:ea typeface="等线"/>
              </a:rPr>
              <a:t> such that Θ(n) nodes are simultaneously in the discovered state when conducting BFS starting from v.</a:t>
            </a:r>
            <a:endParaRPr lang="en-AU" altLang="zh-CN" dirty="0">
              <a:ea typeface="等线"/>
              <a:cs typeface="Calibri"/>
            </a:endParaRPr>
          </a:p>
          <a:p>
            <a:r>
              <a:rPr lang="en-AU" altLang="zh-CN" dirty="0">
                <a:ea typeface="等线"/>
              </a:rPr>
              <a:t>(b) Repeat part (a), but for DFS.</a:t>
            </a:r>
            <a:endParaRPr lang="en-AU" altLang="zh-CN" dirty="0">
              <a:ea typeface="等线"/>
              <a:cs typeface="Calibri"/>
            </a:endParaRPr>
          </a:p>
          <a:p>
            <a:endParaRPr lang="en-AU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452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CF8E4-1CEC-98C4-AFE6-69C218CA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D8AAB-572D-1D10-30E3-183904B1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  <a:r>
              <a:rPr lang="en-AU" altLang="zh-CN" dirty="0"/>
              <a:t>Toy Graphs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54210-997A-A225-63B4-16B9CCFFE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>
                <a:ea typeface="+mn-lt"/>
                <a:cs typeface="+mn-lt"/>
              </a:rPr>
              <a:t>This statement explains the </a:t>
            </a:r>
            <a:r>
              <a:rPr lang="en-AU" b="1" dirty="0">
                <a:ea typeface="+mn-lt"/>
                <a:cs typeface="+mn-lt"/>
              </a:rPr>
              <a:t>two key states</a:t>
            </a:r>
            <a:r>
              <a:rPr lang="en-AU" dirty="0">
                <a:ea typeface="+mn-lt"/>
                <a:cs typeface="+mn-lt"/>
              </a:rPr>
              <a:t> of nodes during </a:t>
            </a:r>
            <a:r>
              <a:rPr lang="en-AU" b="1" dirty="0">
                <a:ea typeface="+mn-lt"/>
                <a:cs typeface="+mn-lt"/>
              </a:rPr>
              <a:t>Breadth-First Search (BFS) and Depth-First Search (DFS)</a:t>
            </a:r>
            <a:r>
              <a:rPr lang="en-AU" dirty="0">
                <a:ea typeface="+mn-lt"/>
                <a:cs typeface="+mn-lt"/>
              </a:rPr>
              <a:t> traversal:</a:t>
            </a:r>
            <a:endParaRPr lang="en-AU" altLang="zh-CN" dirty="0">
              <a:ea typeface="等线" panose="02010600030101010101" pitchFamily="2" charset="-122"/>
            </a:endParaRPr>
          </a:p>
          <a:p>
            <a:r>
              <a:rPr lang="en-AU" b="1" dirty="0">
                <a:ea typeface="+mn-lt"/>
                <a:cs typeface="+mn-lt"/>
              </a:rPr>
              <a:t>Generated</a:t>
            </a:r>
            <a:r>
              <a:rPr lang="en-AU" dirty="0">
                <a:ea typeface="+mn-lt"/>
                <a:cs typeface="+mn-lt"/>
              </a:rPr>
              <a:t>: A node is marked as </a:t>
            </a:r>
            <a:r>
              <a:rPr lang="en-AU" b="1" dirty="0">
                <a:ea typeface="+mn-lt"/>
                <a:cs typeface="+mn-lt"/>
              </a:rPr>
              <a:t>generated</a:t>
            </a:r>
            <a:r>
              <a:rPr lang="en-AU" dirty="0">
                <a:ea typeface="+mn-lt"/>
                <a:cs typeface="+mn-lt"/>
              </a:rPr>
              <a:t> when it is first discovered (added to the search frontier).</a:t>
            </a:r>
            <a:endParaRPr lang="en-AU" dirty="0"/>
          </a:p>
          <a:p>
            <a:r>
              <a:rPr lang="en-AU" b="1" dirty="0">
                <a:ea typeface="+mn-lt"/>
                <a:cs typeface="+mn-lt"/>
              </a:rPr>
              <a:t>Expanded</a:t>
            </a:r>
            <a:r>
              <a:rPr lang="en-AU" dirty="0">
                <a:ea typeface="+mn-lt"/>
                <a:cs typeface="+mn-lt"/>
              </a:rPr>
              <a:t>: A node is marked as </a:t>
            </a:r>
            <a:r>
              <a:rPr lang="en-AU" b="1" dirty="0">
                <a:ea typeface="+mn-lt"/>
                <a:cs typeface="+mn-lt"/>
              </a:rPr>
              <a:t>expanded</a:t>
            </a:r>
            <a:r>
              <a:rPr lang="en-AU" dirty="0">
                <a:ea typeface="+mn-lt"/>
                <a:cs typeface="+mn-lt"/>
              </a:rPr>
              <a:t> once </a:t>
            </a:r>
            <a:r>
              <a:rPr lang="en-AU" b="1" dirty="0">
                <a:ea typeface="+mn-lt"/>
                <a:cs typeface="+mn-lt"/>
              </a:rPr>
              <a:t>all of its successor nodes</a:t>
            </a:r>
            <a:r>
              <a:rPr lang="en-AU" dirty="0">
                <a:ea typeface="+mn-lt"/>
                <a:cs typeface="+mn-lt"/>
              </a:rPr>
              <a:t> have been generated.</a:t>
            </a:r>
          </a:p>
          <a:p>
            <a:endParaRPr lang="en-AU" dirty="0">
              <a:ea typeface="Calibri"/>
              <a:cs typeface="Calibri"/>
            </a:endParaRPr>
          </a:p>
          <a:p>
            <a:endParaRPr lang="en-AU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65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654A-037F-18B0-8F9B-9AEC3439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1166B-6BD0-2B48-A7AF-9391980F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  <a:r>
              <a:rPr lang="en-AU" altLang="zh-CN" dirty="0"/>
              <a:t>Toy Graphs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A80F7-1BE4-C694-478A-4796BD5C5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>
                <a:ea typeface="+mn-lt"/>
                <a:cs typeface="+mn-lt"/>
              </a:rPr>
              <a:t>This statement explains the </a:t>
            </a:r>
            <a:r>
              <a:rPr lang="en-AU" b="1" dirty="0">
                <a:ea typeface="+mn-lt"/>
                <a:cs typeface="+mn-lt"/>
              </a:rPr>
              <a:t>two key states</a:t>
            </a:r>
            <a:r>
              <a:rPr lang="en-AU" dirty="0">
                <a:ea typeface="+mn-lt"/>
                <a:cs typeface="+mn-lt"/>
              </a:rPr>
              <a:t> of nodes during </a:t>
            </a:r>
            <a:r>
              <a:rPr lang="en-AU" b="1" dirty="0">
                <a:ea typeface="+mn-lt"/>
                <a:cs typeface="+mn-lt"/>
              </a:rPr>
              <a:t>Breadth-First Search (BFS) and Depth-First Search (DFS)</a:t>
            </a:r>
            <a:r>
              <a:rPr lang="en-AU" dirty="0">
                <a:ea typeface="+mn-lt"/>
                <a:cs typeface="+mn-lt"/>
              </a:rPr>
              <a:t> traversal:</a:t>
            </a:r>
            <a:endParaRPr lang="en-AU" altLang="zh-CN" dirty="0">
              <a:ea typeface="等线" panose="02010600030101010101" pitchFamily="2" charset="-122"/>
            </a:endParaRPr>
          </a:p>
          <a:p>
            <a:r>
              <a:rPr lang="en-AU" b="1" dirty="0">
                <a:ea typeface="+mn-lt"/>
                <a:cs typeface="+mn-lt"/>
              </a:rPr>
              <a:t>Generated</a:t>
            </a:r>
            <a:r>
              <a:rPr lang="en-AU" dirty="0">
                <a:ea typeface="+mn-lt"/>
                <a:cs typeface="+mn-lt"/>
              </a:rPr>
              <a:t>: A node is marked as </a:t>
            </a:r>
            <a:r>
              <a:rPr lang="en-AU" b="1" dirty="0">
                <a:ea typeface="+mn-lt"/>
                <a:cs typeface="+mn-lt"/>
              </a:rPr>
              <a:t>generated</a:t>
            </a:r>
            <a:r>
              <a:rPr lang="en-AU" dirty="0">
                <a:ea typeface="+mn-lt"/>
                <a:cs typeface="+mn-lt"/>
              </a:rPr>
              <a:t> when it is first discovered (added to the search frontier).</a:t>
            </a:r>
            <a:endParaRPr lang="en-AU" dirty="0"/>
          </a:p>
          <a:p>
            <a:r>
              <a:rPr lang="en-AU" b="1" dirty="0">
                <a:ea typeface="+mn-lt"/>
                <a:cs typeface="+mn-lt"/>
              </a:rPr>
              <a:t>Expanded</a:t>
            </a:r>
            <a:r>
              <a:rPr lang="en-AU" dirty="0">
                <a:ea typeface="+mn-lt"/>
                <a:cs typeface="+mn-lt"/>
              </a:rPr>
              <a:t>: A node is marked as </a:t>
            </a:r>
            <a:r>
              <a:rPr lang="en-AU" b="1" dirty="0">
                <a:ea typeface="+mn-lt"/>
                <a:cs typeface="+mn-lt"/>
              </a:rPr>
              <a:t>expanded</a:t>
            </a:r>
            <a:r>
              <a:rPr lang="en-AU" dirty="0">
                <a:ea typeface="+mn-lt"/>
                <a:cs typeface="+mn-lt"/>
              </a:rPr>
              <a:t> once </a:t>
            </a:r>
            <a:r>
              <a:rPr lang="en-AU" b="1" dirty="0">
                <a:ea typeface="+mn-lt"/>
                <a:cs typeface="+mn-lt"/>
              </a:rPr>
              <a:t>all of its successor nodes</a:t>
            </a:r>
            <a:r>
              <a:rPr lang="en-AU" dirty="0">
                <a:ea typeface="+mn-lt"/>
                <a:cs typeface="+mn-lt"/>
              </a:rPr>
              <a:t> have been generated.</a:t>
            </a:r>
          </a:p>
          <a:p>
            <a:endParaRPr lang="en-AU" dirty="0">
              <a:ea typeface="Calibri"/>
              <a:cs typeface="Calibri"/>
            </a:endParaRPr>
          </a:p>
          <a:p>
            <a:endParaRPr lang="en-AU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0290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F83F-3340-78ED-C265-77420340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8BF04-7E86-1476-0CF4-13DC09B3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  <a:r>
              <a:rPr lang="en-AU" altLang="zh-CN" dirty="0"/>
              <a:t>Toy Graphs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A40B1-990B-1383-0CC0-512322547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987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AU" dirty="0">
                <a:ea typeface="+mn-lt"/>
                <a:cs typeface="+mn-lt"/>
              </a:rPr>
              <a:t>If we apply </a:t>
            </a:r>
            <a:r>
              <a:rPr lang="en-AU" b="1" dirty="0">
                <a:ea typeface="+mn-lt"/>
                <a:cs typeface="+mn-lt"/>
              </a:rPr>
              <a:t>BFS starting from v</a:t>
            </a:r>
            <a:r>
              <a:rPr lang="en-AU" dirty="0">
                <a:ea typeface="+mn-lt"/>
                <a:cs typeface="+mn-lt"/>
              </a:rPr>
              <a:t>:</a:t>
            </a:r>
            <a:endParaRPr lang="en-AU" altLang="zh-CN" dirty="0">
              <a:ea typeface="等线" panose="02010600030101010101" pitchFamily="2" charset="-122"/>
              <a:cs typeface="+mn-lt"/>
            </a:endParaRPr>
          </a:p>
          <a:p>
            <a:pPr marL="514350" indent="-514350">
              <a:buAutoNum type="arabicPeriod"/>
            </a:pPr>
            <a:r>
              <a:rPr lang="en-AU" dirty="0">
                <a:latin typeface="Consolas"/>
                <a:ea typeface="+mn-lt"/>
                <a:cs typeface="+mn-lt"/>
              </a:rPr>
              <a:t>v</a:t>
            </a:r>
            <a:r>
              <a:rPr lang="en-AU" dirty="0">
                <a:ea typeface="+mn-lt"/>
                <a:cs typeface="+mn-lt"/>
              </a:rPr>
              <a:t> is </a:t>
            </a:r>
            <a:r>
              <a:rPr lang="en-AU" b="1" dirty="0">
                <a:ea typeface="+mn-lt"/>
                <a:cs typeface="+mn-lt"/>
              </a:rPr>
              <a:t>generated</a:t>
            </a:r>
            <a:r>
              <a:rPr lang="en-AU" dirty="0">
                <a:ea typeface="+mn-lt"/>
                <a:cs typeface="+mn-lt"/>
              </a:rPr>
              <a:t> first.</a:t>
            </a:r>
            <a:endParaRPr lang="en-AU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AU" dirty="0">
                <a:latin typeface="Consolas"/>
                <a:ea typeface="+mn-lt"/>
                <a:cs typeface="+mn-lt"/>
              </a:rPr>
              <a:t>v</a:t>
            </a:r>
            <a:r>
              <a:rPr lang="en-AU" dirty="0">
                <a:ea typeface="+mn-lt"/>
                <a:cs typeface="+mn-lt"/>
              </a:rPr>
              <a:t> is then </a:t>
            </a:r>
            <a:r>
              <a:rPr lang="en-AU" b="1" dirty="0">
                <a:ea typeface="+mn-lt"/>
                <a:cs typeface="+mn-lt"/>
              </a:rPr>
              <a:t>expanded</a:t>
            </a:r>
            <a:r>
              <a:rPr lang="en-AU" dirty="0">
                <a:ea typeface="+mn-lt"/>
                <a:cs typeface="+mn-lt"/>
              </a:rPr>
              <a:t>, meaning its successors (</a:t>
            </a:r>
            <a:r>
              <a:rPr lang="en-AU" dirty="0">
                <a:latin typeface="Consolas"/>
                <a:ea typeface="+mn-lt"/>
                <a:cs typeface="+mn-lt"/>
              </a:rPr>
              <a:t>a</a:t>
            </a:r>
            <a:r>
              <a:rPr lang="en-AU" dirty="0">
                <a:ea typeface="+mn-lt"/>
                <a:cs typeface="+mn-lt"/>
              </a:rPr>
              <a:t> and </a:t>
            </a:r>
            <a:r>
              <a:rPr lang="en-AU" dirty="0">
                <a:latin typeface="Consolas"/>
                <a:ea typeface="+mn-lt"/>
                <a:cs typeface="+mn-lt"/>
              </a:rPr>
              <a:t>b</a:t>
            </a:r>
            <a:r>
              <a:rPr lang="en-AU" dirty="0">
                <a:ea typeface="+mn-lt"/>
                <a:cs typeface="+mn-lt"/>
              </a:rPr>
              <a:t>) are </a:t>
            </a:r>
            <a:r>
              <a:rPr lang="en-AU" b="1" dirty="0">
                <a:ea typeface="+mn-lt"/>
                <a:cs typeface="+mn-lt"/>
              </a:rPr>
              <a:t>generated</a:t>
            </a:r>
            <a:r>
              <a:rPr lang="en-AU" dirty="0">
                <a:ea typeface="+mn-lt"/>
                <a:cs typeface="+mn-lt"/>
              </a:rPr>
              <a:t>.</a:t>
            </a:r>
            <a:endParaRPr lang="en-AU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AU" dirty="0">
                <a:latin typeface="Consolas"/>
                <a:ea typeface="+mn-lt"/>
                <a:cs typeface="+mn-lt"/>
              </a:rPr>
              <a:t>a</a:t>
            </a:r>
            <a:r>
              <a:rPr lang="en-AU" dirty="0">
                <a:ea typeface="+mn-lt"/>
                <a:cs typeface="+mn-lt"/>
              </a:rPr>
              <a:t> and </a:t>
            </a:r>
            <a:r>
              <a:rPr lang="en-AU" dirty="0">
                <a:latin typeface="Consolas"/>
                <a:ea typeface="+mn-lt"/>
                <a:cs typeface="+mn-lt"/>
              </a:rPr>
              <a:t>b</a:t>
            </a:r>
            <a:r>
              <a:rPr lang="en-AU" dirty="0">
                <a:ea typeface="+mn-lt"/>
                <a:cs typeface="+mn-lt"/>
              </a:rPr>
              <a:t> are </a:t>
            </a:r>
            <a:r>
              <a:rPr lang="en-AU" b="1" dirty="0">
                <a:ea typeface="+mn-lt"/>
                <a:cs typeface="+mn-lt"/>
              </a:rPr>
              <a:t>now in the generated state</a:t>
            </a:r>
            <a:r>
              <a:rPr lang="en-AU" dirty="0">
                <a:ea typeface="+mn-lt"/>
                <a:cs typeface="+mn-lt"/>
              </a:rPr>
              <a:t> until BFS expands them.</a:t>
            </a:r>
            <a:endParaRPr lang="en-AU" dirty="0">
              <a:ea typeface="Calibri" panose="020F0502020204030204"/>
              <a:cs typeface="Calibri" panose="020F0502020204030204"/>
            </a:endParaRPr>
          </a:p>
          <a:p>
            <a:pPr>
              <a:buAutoNum type="arabicPeriod"/>
            </a:pPr>
            <a:endParaRPr lang="en-AU" altLang="zh-CN" dirty="0">
              <a:ea typeface="等线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AF0F5E-3720-527C-D6EA-097DA8CE13CB}"/>
              </a:ext>
            </a:extLst>
          </p:cNvPr>
          <p:cNvSpPr/>
          <p:nvPr/>
        </p:nvSpPr>
        <p:spPr>
          <a:xfrm>
            <a:off x="8934952" y="1466087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v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259CB8-91DB-FFDE-9AD8-E14C36354017}"/>
              </a:ext>
            </a:extLst>
          </p:cNvPr>
          <p:cNvSpPr/>
          <p:nvPr/>
        </p:nvSpPr>
        <p:spPr>
          <a:xfrm>
            <a:off x="8049800" y="2559056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8B582C-EF10-3F05-1F26-F23A049B8FE3}"/>
              </a:ext>
            </a:extLst>
          </p:cNvPr>
          <p:cNvSpPr/>
          <p:nvPr/>
        </p:nvSpPr>
        <p:spPr>
          <a:xfrm>
            <a:off x="9643072" y="2559056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4F94EE7-3BC3-7CBA-C3FD-181AA8469166}"/>
              </a:ext>
            </a:extLst>
          </p:cNvPr>
          <p:cNvSpPr/>
          <p:nvPr/>
        </p:nvSpPr>
        <p:spPr>
          <a:xfrm>
            <a:off x="6902951" y="4006086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C8ECA1-C3A0-FA0D-A4CE-BD925EF7472D}"/>
              </a:ext>
            </a:extLst>
          </p:cNvPr>
          <p:cNvSpPr/>
          <p:nvPr/>
        </p:nvSpPr>
        <p:spPr>
          <a:xfrm>
            <a:off x="8704041" y="4052268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8C3A2B-F76B-E27A-4F5E-A6FAD770C14B}"/>
              </a:ext>
            </a:extLst>
          </p:cNvPr>
          <p:cNvCxnSpPr/>
          <p:nvPr/>
        </p:nvCxnSpPr>
        <p:spPr>
          <a:xfrm flipV="1">
            <a:off x="8509577" y="2314846"/>
            <a:ext cx="875914" cy="25553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5B23B7-8120-B778-885A-F86F95A429E4}"/>
              </a:ext>
            </a:extLst>
          </p:cNvPr>
          <p:cNvCxnSpPr>
            <a:cxnSpLocks/>
          </p:cNvCxnSpPr>
          <p:nvPr/>
        </p:nvCxnSpPr>
        <p:spPr>
          <a:xfrm>
            <a:off x="9394728" y="2308690"/>
            <a:ext cx="683489" cy="26015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7D6569-192A-8215-438B-DDE9A797C3D1}"/>
              </a:ext>
            </a:extLst>
          </p:cNvPr>
          <p:cNvCxnSpPr>
            <a:cxnSpLocks/>
          </p:cNvCxnSpPr>
          <p:nvPr/>
        </p:nvCxnSpPr>
        <p:spPr>
          <a:xfrm flipV="1">
            <a:off x="7362728" y="3415514"/>
            <a:ext cx="1114518" cy="601901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1AE96A-C85F-6DEA-B322-574C710F56CE}"/>
              </a:ext>
            </a:extLst>
          </p:cNvPr>
          <p:cNvCxnSpPr>
            <a:cxnSpLocks/>
          </p:cNvCxnSpPr>
          <p:nvPr/>
        </p:nvCxnSpPr>
        <p:spPr>
          <a:xfrm>
            <a:off x="8517271" y="3455538"/>
            <a:ext cx="606521" cy="63730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192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507E-B237-DE79-A65F-DC39B907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7B36-FB5A-8997-A2B6-91D43B58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  <a:r>
              <a:rPr lang="en-AU" altLang="zh-CN" dirty="0"/>
              <a:t>Toy Graphs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FB047-E3C7-CFD7-057C-CD6B4A947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404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AU">
                <a:ea typeface="+mn-lt"/>
                <a:cs typeface="+mn-lt"/>
              </a:rPr>
              <a:t>If we apply </a:t>
            </a:r>
            <a:r>
              <a:rPr lang="en-AU" b="1" dirty="0">
                <a:ea typeface="+mn-lt"/>
                <a:cs typeface="+mn-lt"/>
              </a:rPr>
              <a:t>DFS starting from v</a:t>
            </a:r>
            <a:r>
              <a:rPr lang="en-AU" dirty="0">
                <a:ea typeface="+mn-lt"/>
                <a:cs typeface="+mn-lt"/>
              </a:rPr>
              <a:t>:</a:t>
            </a:r>
          </a:p>
          <a:p>
            <a:pPr marL="514350" indent="-514350">
              <a:buAutoNum type="arabicPeriod"/>
            </a:pPr>
            <a:r>
              <a:rPr lang="en-AU" dirty="0">
                <a:latin typeface="Consolas"/>
                <a:ea typeface="+mn-lt"/>
                <a:cs typeface="+mn-lt"/>
              </a:rPr>
              <a:t>v</a:t>
            </a:r>
            <a:r>
              <a:rPr lang="en-AU" dirty="0">
                <a:ea typeface="+mn-lt"/>
                <a:cs typeface="+mn-lt"/>
              </a:rPr>
              <a:t> is </a:t>
            </a:r>
            <a:r>
              <a:rPr lang="en-AU" b="1" dirty="0">
                <a:ea typeface="+mn-lt"/>
                <a:cs typeface="+mn-lt"/>
              </a:rPr>
              <a:t>generated</a:t>
            </a:r>
            <a:r>
              <a:rPr lang="en-AU" dirty="0">
                <a:ea typeface="+mn-lt"/>
                <a:cs typeface="+mn-lt"/>
              </a:rPr>
              <a:t> first.</a:t>
            </a:r>
            <a:endParaRPr lang="en-AU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AU" dirty="0">
                <a:ea typeface="+mn-lt"/>
                <a:cs typeface="+mn-lt"/>
              </a:rPr>
              <a:t>DFS expands </a:t>
            </a:r>
            <a:r>
              <a:rPr lang="en-AU" dirty="0">
                <a:latin typeface="Consolas"/>
                <a:ea typeface="+mn-lt"/>
                <a:cs typeface="+mn-lt"/>
              </a:rPr>
              <a:t>v</a:t>
            </a:r>
            <a:r>
              <a:rPr lang="en-AU" dirty="0">
                <a:ea typeface="+mn-lt"/>
                <a:cs typeface="+mn-lt"/>
              </a:rPr>
              <a:t> immediately, </a:t>
            </a:r>
            <a:r>
              <a:rPr lang="en-AU" b="1" dirty="0">
                <a:ea typeface="+mn-lt"/>
                <a:cs typeface="+mn-lt"/>
              </a:rPr>
              <a:t>generating only one child</a:t>
            </a:r>
            <a:r>
              <a:rPr lang="en-AU" dirty="0">
                <a:ea typeface="+mn-lt"/>
                <a:cs typeface="+mn-lt"/>
              </a:rPr>
              <a:t> (</a:t>
            </a:r>
            <a:r>
              <a:rPr lang="en-AU" dirty="0">
                <a:latin typeface="Consolas"/>
                <a:ea typeface="+mn-lt"/>
                <a:cs typeface="+mn-lt"/>
              </a:rPr>
              <a:t>a</a:t>
            </a:r>
            <a:r>
              <a:rPr lang="en-AU" dirty="0">
                <a:ea typeface="+mn-lt"/>
                <a:cs typeface="+mn-lt"/>
              </a:rPr>
              <a:t>).</a:t>
            </a:r>
          </a:p>
          <a:p>
            <a:pPr marL="514350" indent="-514350">
              <a:buAutoNum type="arabicPeriod"/>
            </a:pPr>
            <a:r>
              <a:rPr lang="en-AU" dirty="0">
                <a:latin typeface="Consolas"/>
                <a:ea typeface="+mn-lt"/>
                <a:cs typeface="+mn-lt"/>
              </a:rPr>
              <a:t>a</a:t>
            </a:r>
            <a:r>
              <a:rPr lang="en-AU" dirty="0">
                <a:ea typeface="+mn-lt"/>
                <a:cs typeface="+mn-lt"/>
              </a:rPr>
              <a:t> is then expanded before </a:t>
            </a:r>
            <a:r>
              <a:rPr lang="en-AU" dirty="0">
                <a:latin typeface="Consolas"/>
                <a:ea typeface="+mn-lt"/>
                <a:cs typeface="+mn-lt"/>
              </a:rPr>
              <a:t>b</a:t>
            </a:r>
            <a:r>
              <a:rPr lang="en-AU" dirty="0">
                <a:ea typeface="+mn-lt"/>
                <a:cs typeface="+mn-lt"/>
              </a:rPr>
              <a:t> is even generated.</a:t>
            </a:r>
          </a:p>
          <a:p>
            <a:pPr>
              <a:buAutoNum type="arabicPeriod"/>
            </a:pPr>
            <a:endParaRPr lang="en-AU" dirty="0">
              <a:ea typeface="+mn-lt"/>
              <a:cs typeface="+mn-lt"/>
            </a:endParaRPr>
          </a:p>
          <a:p>
            <a:pPr>
              <a:buAutoNum type="arabicPeriod"/>
            </a:pPr>
            <a:endParaRPr lang="en-AU" dirty="0">
              <a:ea typeface="Calibri"/>
              <a:cs typeface="Calibri"/>
            </a:endParaRPr>
          </a:p>
          <a:p>
            <a:pPr>
              <a:buAutoNum type="arabicPeriod"/>
            </a:pPr>
            <a:endParaRPr lang="en-AU" altLang="zh-CN" dirty="0">
              <a:ea typeface="等线"/>
              <a:cs typeface="Calibr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72DF8C-936F-E269-0224-606FB15FF212}"/>
              </a:ext>
            </a:extLst>
          </p:cNvPr>
          <p:cNvSpPr/>
          <p:nvPr/>
        </p:nvSpPr>
        <p:spPr>
          <a:xfrm>
            <a:off x="8934952" y="1466087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v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7F6702-4924-ABFF-227E-08E1FBA8BFDD}"/>
              </a:ext>
            </a:extLst>
          </p:cNvPr>
          <p:cNvSpPr/>
          <p:nvPr/>
        </p:nvSpPr>
        <p:spPr>
          <a:xfrm>
            <a:off x="8049800" y="2559056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1C0271-8B18-E534-6E72-41C8A98E20F4}"/>
              </a:ext>
            </a:extLst>
          </p:cNvPr>
          <p:cNvSpPr/>
          <p:nvPr/>
        </p:nvSpPr>
        <p:spPr>
          <a:xfrm>
            <a:off x="9643072" y="2559056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98421C0-01AC-8A0A-21C6-445AC2B0D1DA}"/>
              </a:ext>
            </a:extLst>
          </p:cNvPr>
          <p:cNvSpPr/>
          <p:nvPr/>
        </p:nvSpPr>
        <p:spPr>
          <a:xfrm>
            <a:off x="6902951" y="4006086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c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09F228-0EBD-66ED-0C51-84EE1AF34DDD}"/>
              </a:ext>
            </a:extLst>
          </p:cNvPr>
          <p:cNvSpPr/>
          <p:nvPr/>
        </p:nvSpPr>
        <p:spPr>
          <a:xfrm>
            <a:off x="8704041" y="4052268"/>
            <a:ext cx="882979" cy="869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ea typeface="Calibri"/>
                <a:cs typeface="Calibri"/>
              </a:rPr>
              <a:t>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ACBFB7-C678-2F12-CAED-BC11E59AF0A5}"/>
              </a:ext>
            </a:extLst>
          </p:cNvPr>
          <p:cNvCxnSpPr/>
          <p:nvPr/>
        </p:nvCxnSpPr>
        <p:spPr>
          <a:xfrm flipV="1">
            <a:off x="8509577" y="2314846"/>
            <a:ext cx="875914" cy="25553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B1C080-C82B-B8A0-F9AA-00DEC01C34E5}"/>
              </a:ext>
            </a:extLst>
          </p:cNvPr>
          <p:cNvCxnSpPr>
            <a:cxnSpLocks/>
          </p:cNvCxnSpPr>
          <p:nvPr/>
        </p:nvCxnSpPr>
        <p:spPr>
          <a:xfrm>
            <a:off x="9394728" y="2308690"/>
            <a:ext cx="683489" cy="26015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0F2B2D-8830-BC57-63F2-3E51A3A58704}"/>
              </a:ext>
            </a:extLst>
          </p:cNvPr>
          <p:cNvCxnSpPr>
            <a:cxnSpLocks/>
          </p:cNvCxnSpPr>
          <p:nvPr/>
        </p:nvCxnSpPr>
        <p:spPr>
          <a:xfrm flipV="1">
            <a:off x="7362728" y="3415514"/>
            <a:ext cx="1114518" cy="601901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3A27AB-8CA8-1835-DA23-CDB44FA634A6}"/>
              </a:ext>
            </a:extLst>
          </p:cNvPr>
          <p:cNvCxnSpPr>
            <a:cxnSpLocks/>
          </p:cNvCxnSpPr>
          <p:nvPr/>
        </p:nvCxnSpPr>
        <p:spPr>
          <a:xfrm>
            <a:off x="8517271" y="3455538"/>
            <a:ext cx="606521" cy="63730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16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  <a:r>
              <a:rPr lang="en-AU" altLang="zh-CN" dirty="0"/>
              <a:t>Toy Graphs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>
                <a:ea typeface="Calibri"/>
              </a:rPr>
              <a:t>In BFS and DFS, a node is marked </a:t>
            </a:r>
            <a:r>
              <a:rPr lang="en-AU" b="1" dirty="0">
                <a:ea typeface="Calibri"/>
              </a:rPr>
              <a:t>generated</a:t>
            </a:r>
            <a:r>
              <a:rPr lang="en-AU" dirty="0">
                <a:ea typeface="Calibri"/>
              </a:rPr>
              <a:t> when it is first discovered, then marked </a:t>
            </a:r>
            <a:r>
              <a:rPr lang="en-AU" b="1" dirty="0">
                <a:ea typeface="Calibri"/>
              </a:rPr>
              <a:t>expanded</a:t>
            </a:r>
            <a:r>
              <a:rPr lang="en-AU" dirty="0">
                <a:ea typeface="Calibri"/>
              </a:rPr>
              <a:t> when its successor states have been generated. At any given moment, several nodes might simultaneously be in the </a:t>
            </a:r>
            <a:r>
              <a:rPr lang="en-AU" b="1" dirty="0">
                <a:ea typeface="Calibri"/>
              </a:rPr>
              <a:t>generated</a:t>
            </a:r>
            <a:r>
              <a:rPr lang="en-AU" dirty="0">
                <a:ea typeface="Calibri"/>
              </a:rPr>
              <a:t> (but not yet expanded ) state.</a:t>
            </a:r>
          </a:p>
          <a:p>
            <a:r>
              <a:rPr lang="en-AU" altLang="zh-CN" dirty="0">
                <a:ea typeface="等线"/>
              </a:rPr>
              <a:t>(a) Describe a graph on n vertices and root v such that Θ(n) nodes are simultaneously in the discovered state when conducting BFS starting from v.</a:t>
            </a:r>
            <a:endParaRPr lang="en-AU" altLang="zh-CN" dirty="0">
              <a:ea typeface="等线"/>
              <a:cs typeface="Calibri"/>
            </a:endParaRPr>
          </a:p>
          <a:p>
            <a:r>
              <a:rPr lang="en-AU" altLang="zh-CN" dirty="0">
                <a:solidFill>
                  <a:schemeClr val="accent6">
                    <a:lumMod val="75000"/>
                  </a:schemeClr>
                </a:solidFill>
                <a:ea typeface="等线"/>
              </a:rPr>
              <a:t>A graph of depth 1 where v has n children.</a:t>
            </a:r>
            <a:endParaRPr lang="en-AU" altLang="zh-CN" dirty="0">
              <a:solidFill>
                <a:schemeClr val="accent6">
                  <a:lumMod val="75000"/>
                </a:schemeClr>
              </a:solidFill>
              <a:ea typeface="等线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312562-EF2E-4372-8BCD-EC86B4694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141" y="4683739"/>
            <a:ext cx="3814659" cy="180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4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  <a:r>
              <a:rPr lang="en-AU" altLang="zh-CN" dirty="0"/>
              <a:t>Toy Graphs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AU" dirty="0">
                <a:ea typeface="Calibri"/>
              </a:rPr>
              <a:t>In BFS and DFS, a node is marked </a:t>
            </a:r>
            <a:r>
              <a:rPr lang="en-AU" b="1" dirty="0">
                <a:ea typeface="Calibri"/>
              </a:rPr>
              <a:t>generated</a:t>
            </a:r>
            <a:r>
              <a:rPr lang="en-AU" dirty="0">
                <a:ea typeface="Calibri"/>
              </a:rPr>
              <a:t> when it is first discovered, then marked </a:t>
            </a:r>
            <a:r>
              <a:rPr lang="en-AU" b="1" dirty="0">
                <a:ea typeface="Calibri"/>
              </a:rPr>
              <a:t>expanded</a:t>
            </a:r>
            <a:r>
              <a:rPr lang="en-AU" dirty="0">
                <a:ea typeface="Calibri"/>
              </a:rPr>
              <a:t> when its successor states have been generated. At any given moment, several nodes might simultaneously be in the </a:t>
            </a:r>
            <a:r>
              <a:rPr lang="en-AU" b="1" dirty="0">
                <a:ea typeface="Calibri"/>
              </a:rPr>
              <a:t>generated</a:t>
            </a:r>
            <a:r>
              <a:rPr lang="en-AU" dirty="0">
                <a:ea typeface="Calibri"/>
              </a:rPr>
              <a:t> (</a:t>
            </a:r>
            <a:r>
              <a:rPr lang="en-AU" altLang="zh-CN" dirty="0">
                <a:ea typeface="Calibri"/>
              </a:rPr>
              <a:t>but not yet </a:t>
            </a:r>
            <a:r>
              <a:rPr lang="en-AU" dirty="0">
                <a:ea typeface="Calibri"/>
              </a:rPr>
              <a:t>expanded ) state.</a:t>
            </a:r>
            <a:endParaRPr lang="en-AU" dirty="0">
              <a:ea typeface="Calibri"/>
              <a:cs typeface="Calibri"/>
            </a:endParaRPr>
          </a:p>
          <a:p>
            <a:r>
              <a:rPr lang="en-AU" altLang="zh-CN" dirty="0">
                <a:ea typeface="等线"/>
              </a:rPr>
              <a:t>(b) </a:t>
            </a:r>
            <a:r>
              <a:rPr lang="en-AU" dirty="0"/>
              <a:t>Describe a graph on n vertices and root v </a:t>
            </a:r>
          </a:p>
          <a:p>
            <a:pPr marL="0" indent="0">
              <a:buNone/>
            </a:pPr>
            <a:r>
              <a:rPr lang="en-AU" dirty="0"/>
              <a:t>such that at most one node is ever in the </a:t>
            </a:r>
          </a:p>
          <a:p>
            <a:pPr marL="0" indent="0">
              <a:buNone/>
            </a:pPr>
            <a:r>
              <a:rPr lang="en-AU" dirty="0"/>
              <a:t>generated state when conducting DFS </a:t>
            </a:r>
          </a:p>
          <a:p>
            <a:pPr marL="0" indent="0">
              <a:buNone/>
            </a:pPr>
            <a:r>
              <a:rPr lang="en-AU" dirty="0"/>
              <a:t>starting from v. </a:t>
            </a:r>
          </a:p>
          <a:p>
            <a:r>
              <a:rPr lang="en-AU" altLang="zh-CN" dirty="0">
                <a:solidFill>
                  <a:schemeClr val="accent6">
                    <a:lumMod val="75000"/>
                  </a:schemeClr>
                </a:solidFill>
              </a:rPr>
              <a:t>A graph of depth n with a single linear </a:t>
            </a:r>
          </a:p>
          <a:p>
            <a:pPr marL="0" indent="0">
              <a:buNone/>
            </a:pPr>
            <a:r>
              <a:rPr lang="en-AU" altLang="zh-CN" dirty="0">
                <a:solidFill>
                  <a:schemeClr val="accent6">
                    <a:lumMod val="75000"/>
                  </a:schemeClr>
                </a:solidFill>
              </a:rPr>
              <a:t>branch of children extending from v.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3299E-CD9D-45F5-8AD9-4F8C7BF24C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0" t="42936"/>
          <a:stretch/>
        </p:blipFill>
        <p:spPr>
          <a:xfrm>
            <a:off x="7920921" y="3289290"/>
            <a:ext cx="3183764" cy="320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8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343E-4782-F62A-0D63-D3F65FD3C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Summary of BFS and DFS</a:t>
            </a:r>
            <a:endParaRPr lang="en-US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E43C3350-1D33-551F-D93D-9B655BE97D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1423759"/>
              </p:ext>
            </p:extLst>
          </p:nvPr>
        </p:nvGraphicFramePr>
        <p:xfrm>
          <a:off x="838200" y="1825625"/>
          <a:ext cx="10515600" cy="3017520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720920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997144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87351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57674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Expansion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Generation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Impact of Graph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002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BFS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Expands in layers, exploring all neighbors at the current level before moving deeper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Multiple nodes are generated simultaneously in each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Affects how many nodes are generated at once—wide trees generate more at each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209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Expands deeply, following a single path until reaching the end before backtracking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At most one node is generated at a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Graph depth affects how many nodes remain </a:t>
                      </a:r>
                      <a:r>
                        <a:rPr lang="en-US" err="1"/>
                        <a:t>ungenerated</a:t>
                      </a:r>
                      <a:r>
                        <a:rPr lang="en-US" dirty="0"/>
                        <a:t> while others are expanded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439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795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zh-CN" dirty="0"/>
              <a:t>Recall the iterative deepening search (IDS) strategy from lectures.</a:t>
            </a:r>
          </a:p>
          <a:p>
            <a:r>
              <a:rPr lang="en-AU" altLang="zh-CN" dirty="0"/>
              <a:t>(a) Derive the time complexity of iterative deepening search on a graph with branching factor b and minimum goal depth d.</a:t>
            </a:r>
          </a:p>
          <a:p>
            <a:r>
              <a:rPr lang="en-AU" altLang="zh-CN" dirty="0"/>
              <a:t>(b) Can you think of a situation where IDS performs much worse than regular depth-first search?</a:t>
            </a:r>
          </a:p>
          <a:p>
            <a:r>
              <a:rPr lang="en-AU" altLang="zh-CN" dirty="0"/>
              <a:t>(c) BFS and IDS are not optimal in general. State a necessary condition on the cost function g : paths → R for both methods to be optimal.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76116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zh-CN" dirty="0"/>
              <a:t>Recall the iterative deepening search (IDS) strategy from lectures.</a:t>
            </a:r>
          </a:p>
          <a:p>
            <a:r>
              <a:rPr lang="en-AU" altLang="zh-CN" dirty="0"/>
              <a:t>(a) Derive the time complexity of iterative deepening search on a graph with branching factor b and minimum goal depth d.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698B9E-4994-441C-9F2A-EB33DC52BF67}"/>
              </a:ext>
            </a:extLst>
          </p:cNvPr>
          <p:cNvSpPr/>
          <p:nvPr/>
        </p:nvSpPr>
        <p:spPr>
          <a:xfrm>
            <a:off x="5318621" y="3322040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3D918C-CBF9-4935-AF85-9B169A0B1565}"/>
              </a:ext>
            </a:extLst>
          </p:cNvPr>
          <p:cNvSpPr/>
          <p:nvPr/>
        </p:nvSpPr>
        <p:spPr>
          <a:xfrm>
            <a:off x="3882171" y="419449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1E2427-FDA3-4090-8213-83667460E9A7}"/>
              </a:ext>
            </a:extLst>
          </p:cNvPr>
          <p:cNvSpPr/>
          <p:nvPr/>
        </p:nvSpPr>
        <p:spPr>
          <a:xfrm>
            <a:off x="6681646" y="423833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66A93B-3490-4CAF-B155-02AF1CF032C7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4626858" y="3956937"/>
            <a:ext cx="769588" cy="365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69DF2D-5E66-4853-BF6E-1D72A56216ED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6141133" y="3927904"/>
            <a:ext cx="668281" cy="438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F1BEF2F-584A-4FAE-815D-86AEB2E9DEFC}"/>
              </a:ext>
            </a:extLst>
          </p:cNvPr>
          <p:cNvSpPr/>
          <p:nvPr/>
        </p:nvSpPr>
        <p:spPr>
          <a:xfrm>
            <a:off x="3009716" y="5066950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56995B-3D9F-4875-B0A5-435DE0432639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3754403" y="4939182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DB51105-16BD-431C-8CBD-E2F18E5A0632}"/>
              </a:ext>
            </a:extLst>
          </p:cNvPr>
          <p:cNvSpPr/>
          <p:nvPr/>
        </p:nvSpPr>
        <p:spPr>
          <a:xfrm>
            <a:off x="4704682" y="512184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C814F1-D001-4747-A968-30FAFA90F265}"/>
              </a:ext>
            </a:extLst>
          </p:cNvPr>
          <p:cNvCxnSpPr>
            <a:cxnSpLocks/>
          </p:cNvCxnSpPr>
          <p:nvPr/>
        </p:nvCxnSpPr>
        <p:spPr>
          <a:xfrm flipH="1" flipV="1">
            <a:off x="4626858" y="4939182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322BE57-DA57-429E-A82C-7E23D1D59D4C}"/>
              </a:ext>
            </a:extLst>
          </p:cNvPr>
          <p:cNvSpPr/>
          <p:nvPr/>
        </p:nvSpPr>
        <p:spPr>
          <a:xfrm>
            <a:off x="7581982" y="5046906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E75BC0-74E3-481E-8184-9375B01615F7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454214" y="4919138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C9D1EA7-990B-44ED-8D6D-D6F9351451AE}"/>
              </a:ext>
            </a:extLst>
          </p:cNvPr>
          <p:cNvSpPr/>
          <p:nvPr/>
        </p:nvSpPr>
        <p:spPr>
          <a:xfrm>
            <a:off x="5837072" y="512184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BBD2AD-F2BB-448A-81C9-8F403FD3396E}"/>
              </a:ext>
            </a:extLst>
          </p:cNvPr>
          <p:cNvCxnSpPr>
            <a:cxnSpLocks/>
            <a:stCxn id="19" idx="7"/>
          </p:cNvCxnSpPr>
          <p:nvPr/>
        </p:nvCxnSpPr>
        <p:spPr>
          <a:xfrm flipV="1">
            <a:off x="6581759" y="4994077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066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zh-CN" dirty="0"/>
              <a:t>Recall the iterative deepening search (IDS) strategy from lectures.</a:t>
            </a:r>
          </a:p>
          <a:p>
            <a:r>
              <a:rPr lang="en-AU" altLang="zh-CN" dirty="0"/>
              <a:t>(a) Derive the time complexity of iterative deepening search on a graph with branching factor b and minimum goal depth d.</a:t>
            </a:r>
          </a:p>
          <a:p>
            <a:r>
              <a:rPr lang="en-AU" altLang="zh-CN" dirty="0">
                <a:solidFill>
                  <a:schemeClr val="accent6"/>
                </a:solidFill>
              </a:rPr>
              <a:t>D = 0</a:t>
            </a:r>
          </a:p>
          <a:p>
            <a:r>
              <a:rPr lang="en-AU" altLang="zh-CN" dirty="0">
                <a:solidFill>
                  <a:schemeClr val="accent6"/>
                </a:solidFill>
              </a:rPr>
              <a:t>d * b^0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698B9E-4994-441C-9F2A-EB33DC52BF67}"/>
              </a:ext>
            </a:extLst>
          </p:cNvPr>
          <p:cNvSpPr/>
          <p:nvPr/>
        </p:nvSpPr>
        <p:spPr>
          <a:xfrm>
            <a:off x="5318621" y="3322040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3D918C-CBF9-4935-AF85-9B169A0B1565}"/>
              </a:ext>
            </a:extLst>
          </p:cNvPr>
          <p:cNvSpPr/>
          <p:nvPr/>
        </p:nvSpPr>
        <p:spPr>
          <a:xfrm>
            <a:off x="3882171" y="419449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1E2427-FDA3-4090-8213-83667460E9A7}"/>
              </a:ext>
            </a:extLst>
          </p:cNvPr>
          <p:cNvSpPr/>
          <p:nvPr/>
        </p:nvSpPr>
        <p:spPr>
          <a:xfrm>
            <a:off x="6681646" y="423833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66A93B-3490-4CAF-B155-02AF1CF032C7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4626858" y="3956937"/>
            <a:ext cx="769588" cy="365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69DF2D-5E66-4853-BF6E-1D72A56216ED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6141133" y="3927904"/>
            <a:ext cx="668281" cy="438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F1BEF2F-584A-4FAE-815D-86AEB2E9DEFC}"/>
              </a:ext>
            </a:extLst>
          </p:cNvPr>
          <p:cNvSpPr/>
          <p:nvPr/>
        </p:nvSpPr>
        <p:spPr>
          <a:xfrm>
            <a:off x="3009716" y="5066950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56995B-3D9F-4875-B0A5-435DE0432639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3754403" y="4939182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DB51105-16BD-431C-8CBD-E2F18E5A0632}"/>
              </a:ext>
            </a:extLst>
          </p:cNvPr>
          <p:cNvSpPr/>
          <p:nvPr/>
        </p:nvSpPr>
        <p:spPr>
          <a:xfrm>
            <a:off x="4704682" y="512184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C814F1-D001-4747-A968-30FAFA90F265}"/>
              </a:ext>
            </a:extLst>
          </p:cNvPr>
          <p:cNvCxnSpPr>
            <a:cxnSpLocks/>
          </p:cNvCxnSpPr>
          <p:nvPr/>
        </p:nvCxnSpPr>
        <p:spPr>
          <a:xfrm flipH="1" flipV="1">
            <a:off x="4626858" y="4939182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322BE57-DA57-429E-A82C-7E23D1D59D4C}"/>
              </a:ext>
            </a:extLst>
          </p:cNvPr>
          <p:cNvSpPr/>
          <p:nvPr/>
        </p:nvSpPr>
        <p:spPr>
          <a:xfrm>
            <a:off x="7581982" y="5046906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E75BC0-74E3-481E-8184-9375B01615F7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454214" y="4919138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C9D1EA7-990B-44ED-8D6D-D6F9351451AE}"/>
              </a:ext>
            </a:extLst>
          </p:cNvPr>
          <p:cNvSpPr/>
          <p:nvPr/>
        </p:nvSpPr>
        <p:spPr>
          <a:xfrm>
            <a:off x="5837072" y="512184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BBD2AD-F2BB-448A-81C9-8F403FD3396E}"/>
              </a:ext>
            </a:extLst>
          </p:cNvPr>
          <p:cNvCxnSpPr>
            <a:cxnSpLocks/>
            <a:stCxn id="19" idx="7"/>
          </p:cNvCxnSpPr>
          <p:nvPr/>
        </p:nvCxnSpPr>
        <p:spPr>
          <a:xfrm flipV="1">
            <a:off x="6581759" y="4994077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433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zh-CN" dirty="0"/>
              <a:t>Recall the iterative deepening search (IDS) strategy from lectures.</a:t>
            </a:r>
          </a:p>
          <a:p>
            <a:r>
              <a:rPr lang="en-AU" altLang="zh-CN" dirty="0"/>
              <a:t>(a) Derive the time complexity of iterative deepening search on a graph with branching factor b and minimum goal depth d.</a:t>
            </a:r>
          </a:p>
          <a:p>
            <a:r>
              <a:rPr lang="en-AU" altLang="zh-CN" dirty="0">
                <a:solidFill>
                  <a:schemeClr val="accent6"/>
                </a:solidFill>
              </a:rPr>
              <a:t>D = 1</a:t>
            </a:r>
          </a:p>
          <a:p>
            <a:r>
              <a:rPr lang="en-AU" altLang="zh-CN" dirty="0">
                <a:solidFill>
                  <a:schemeClr val="accent6"/>
                </a:solidFill>
              </a:rPr>
              <a:t>d*b^0 + (d-1)*b^1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698B9E-4994-441C-9F2A-EB33DC52BF67}"/>
              </a:ext>
            </a:extLst>
          </p:cNvPr>
          <p:cNvSpPr/>
          <p:nvPr/>
        </p:nvSpPr>
        <p:spPr>
          <a:xfrm>
            <a:off x="5318621" y="3322040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3D918C-CBF9-4935-AF85-9B169A0B1565}"/>
              </a:ext>
            </a:extLst>
          </p:cNvPr>
          <p:cNvSpPr/>
          <p:nvPr/>
        </p:nvSpPr>
        <p:spPr>
          <a:xfrm>
            <a:off x="3882171" y="4194495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1E2427-FDA3-4090-8213-83667460E9A7}"/>
              </a:ext>
            </a:extLst>
          </p:cNvPr>
          <p:cNvSpPr/>
          <p:nvPr/>
        </p:nvSpPr>
        <p:spPr>
          <a:xfrm>
            <a:off x="6681646" y="4238335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66A93B-3490-4CAF-B155-02AF1CF032C7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4626858" y="3956937"/>
            <a:ext cx="769588" cy="365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69DF2D-5E66-4853-BF6E-1D72A56216ED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6141133" y="3927904"/>
            <a:ext cx="668281" cy="438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F1BEF2F-584A-4FAE-815D-86AEB2E9DEFC}"/>
              </a:ext>
            </a:extLst>
          </p:cNvPr>
          <p:cNvSpPr/>
          <p:nvPr/>
        </p:nvSpPr>
        <p:spPr>
          <a:xfrm>
            <a:off x="3009716" y="5066950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56995B-3D9F-4875-B0A5-435DE0432639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3754403" y="4939182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DB51105-16BD-431C-8CBD-E2F18E5A0632}"/>
              </a:ext>
            </a:extLst>
          </p:cNvPr>
          <p:cNvSpPr/>
          <p:nvPr/>
        </p:nvSpPr>
        <p:spPr>
          <a:xfrm>
            <a:off x="4704682" y="512184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C814F1-D001-4747-A968-30FAFA90F265}"/>
              </a:ext>
            </a:extLst>
          </p:cNvPr>
          <p:cNvCxnSpPr>
            <a:cxnSpLocks/>
          </p:cNvCxnSpPr>
          <p:nvPr/>
        </p:nvCxnSpPr>
        <p:spPr>
          <a:xfrm flipH="1" flipV="1">
            <a:off x="4626858" y="4939182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322BE57-DA57-429E-A82C-7E23D1D59D4C}"/>
              </a:ext>
            </a:extLst>
          </p:cNvPr>
          <p:cNvSpPr/>
          <p:nvPr/>
        </p:nvSpPr>
        <p:spPr>
          <a:xfrm>
            <a:off x="7581982" y="5046906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E75BC0-74E3-481E-8184-9375B01615F7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454214" y="4919138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C9D1EA7-990B-44ED-8D6D-D6F9351451AE}"/>
              </a:ext>
            </a:extLst>
          </p:cNvPr>
          <p:cNvSpPr/>
          <p:nvPr/>
        </p:nvSpPr>
        <p:spPr>
          <a:xfrm>
            <a:off x="5837072" y="5121845"/>
            <a:ext cx="872455" cy="87245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BBD2AD-F2BB-448A-81C9-8F403FD3396E}"/>
              </a:ext>
            </a:extLst>
          </p:cNvPr>
          <p:cNvCxnSpPr>
            <a:cxnSpLocks/>
            <a:stCxn id="19" idx="7"/>
          </p:cNvCxnSpPr>
          <p:nvPr/>
        </p:nvCxnSpPr>
        <p:spPr>
          <a:xfrm flipV="1">
            <a:off x="6581759" y="4994077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745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zh-CN" dirty="0"/>
              <a:t>Recall the iterative deepening search (IDS) strategy from lectures.</a:t>
            </a:r>
          </a:p>
          <a:p>
            <a:r>
              <a:rPr lang="en-AU" altLang="zh-CN" dirty="0"/>
              <a:t>(a) Derive the time complexity of iterative deepening search on a graph with branching factor b and minimum goal depth d.</a:t>
            </a:r>
          </a:p>
          <a:p>
            <a:r>
              <a:rPr lang="en-AU" altLang="zh-CN" dirty="0">
                <a:solidFill>
                  <a:schemeClr val="accent6"/>
                </a:solidFill>
              </a:rPr>
              <a:t>D = 2</a:t>
            </a:r>
          </a:p>
          <a:p>
            <a:r>
              <a:rPr lang="en-AU" altLang="zh-CN" dirty="0">
                <a:solidFill>
                  <a:schemeClr val="accent6"/>
                </a:solidFill>
              </a:rPr>
              <a:t>d*b^0 + (d-1)*b^1 + (d-2)*b^2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698B9E-4994-441C-9F2A-EB33DC52BF67}"/>
              </a:ext>
            </a:extLst>
          </p:cNvPr>
          <p:cNvSpPr/>
          <p:nvPr/>
        </p:nvSpPr>
        <p:spPr>
          <a:xfrm>
            <a:off x="8217984" y="3429000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3D918C-CBF9-4935-AF85-9B169A0B1565}"/>
              </a:ext>
            </a:extLst>
          </p:cNvPr>
          <p:cNvSpPr/>
          <p:nvPr/>
        </p:nvSpPr>
        <p:spPr>
          <a:xfrm>
            <a:off x="6781534" y="4301455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1E2427-FDA3-4090-8213-83667460E9A7}"/>
              </a:ext>
            </a:extLst>
          </p:cNvPr>
          <p:cNvSpPr/>
          <p:nvPr/>
        </p:nvSpPr>
        <p:spPr>
          <a:xfrm>
            <a:off x="9581009" y="4345295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66A93B-3490-4CAF-B155-02AF1CF032C7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7526221" y="4063897"/>
            <a:ext cx="769588" cy="365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69DF2D-5E66-4853-BF6E-1D72A56216ED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9040496" y="4034864"/>
            <a:ext cx="668281" cy="438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F1BEF2F-584A-4FAE-815D-86AEB2E9DEFC}"/>
              </a:ext>
            </a:extLst>
          </p:cNvPr>
          <p:cNvSpPr/>
          <p:nvPr/>
        </p:nvSpPr>
        <p:spPr>
          <a:xfrm>
            <a:off x="5909079" y="5173910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56995B-3D9F-4875-B0A5-435DE0432639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6653766" y="5046142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DB51105-16BD-431C-8CBD-E2F18E5A0632}"/>
              </a:ext>
            </a:extLst>
          </p:cNvPr>
          <p:cNvSpPr/>
          <p:nvPr/>
        </p:nvSpPr>
        <p:spPr>
          <a:xfrm>
            <a:off x="7604045" y="5228805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C814F1-D001-4747-A968-30FAFA90F265}"/>
              </a:ext>
            </a:extLst>
          </p:cNvPr>
          <p:cNvCxnSpPr>
            <a:cxnSpLocks/>
          </p:cNvCxnSpPr>
          <p:nvPr/>
        </p:nvCxnSpPr>
        <p:spPr>
          <a:xfrm flipH="1" flipV="1">
            <a:off x="7526221" y="5046142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322BE57-DA57-429E-A82C-7E23D1D59D4C}"/>
              </a:ext>
            </a:extLst>
          </p:cNvPr>
          <p:cNvSpPr/>
          <p:nvPr/>
        </p:nvSpPr>
        <p:spPr>
          <a:xfrm>
            <a:off x="10481345" y="515386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E75BC0-74E3-481E-8184-9375B01615F7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10353577" y="5026098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C9D1EA7-990B-44ED-8D6D-D6F9351451AE}"/>
              </a:ext>
            </a:extLst>
          </p:cNvPr>
          <p:cNvSpPr/>
          <p:nvPr/>
        </p:nvSpPr>
        <p:spPr>
          <a:xfrm>
            <a:off x="8736435" y="5228805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BBD2AD-F2BB-448A-81C9-8F403FD3396E}"/>
              </a:ext>
            </a:extLst>
          </p:cNvPr>
          <p:cNvCxnSpPr>
            <a:cxnSpLocks/>
            <a:stCxn id="19" idx="7"/>
          </p:cNvCxnSpPr>
          <p:nvPr/>
        </p:nvCxnSpPr>
        <p:spPr>
          <a:xfrm flipV="1">
            <a:off x="9481122" y="5101037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702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zh-CN" dirty="0"/>
              <a:t>Recall the iterative deepening search (IDS) strategy from lectures.</a:t>
            </a:r>
          </a:p>
          <a:p>
            <a:r>
              <a:rPr lang="en-AU" altLang="zh-CN" dirty="0"/>
              <a:t>(a) Derive the time complexity of iterative deepening search on a graph with branching factor b and minimum goal depth d.</a:t>
            </a:r>
          </a:p>
          <a:p>
            <a:r>
              <a:rPr lang="en-AU" altLang="zh-CN" dirty="0">
                <a:solidFill>
                  <a:schemeClr val="accent6"/>
                </a:solidFill>
              </a:rPr>
              <a:t>D = </a:t>
            </a:r>
            <a:r>
              <a:rPr lang="en-US" altLang="zh-CN" dirty="0">
                <a:solidFill>
                  <a:schemeClr val="accent6"/>
                </a:solidFill>
              </a:rPr>
              <a:t>d</a:t>
            </a:r>
            <a:endParaRPr lang="en-AU" altLang="zh-CN" dirty="0">
              <a:solidFill>
                <a:schemeClr val="accent6"/>
              </a:solidFill>
            </a:endParaRPr>
          </a:p>
          <a:p>
            <a:r>
              <a:rPr lang="en-AU" altLang="zh-CN" dirty="0">
                <a:solidFill>
                  <a:schemeClr val="accent6"/>
                </a:solidFill>
              </a:rPr>
              <a:t>d*b^0 + (d-1)*b^1 + (d-2)*b^2 …+</a:t>
            </a:r>
            <a:r>
              <a:rPr lang="en-AU" altLang="zh-CN" dirty="0" err="1">
                <a:solidFill>
                  <a:schemeClr val="accent6"/>
                </a:solidFill>
              </a:rPr>
              <a:t>b^d</a:t>
            </a:r>
            <a:r>
              <a:rPr lang="en-AU" altLang="zh-CN" dirty="0">
                <a:solidFill>
                  <a:schemeClr val="accent6"/>
                </a:solidFill>
              </a:rPr>
              <a:t>  </a:t>
            </a:r>
          </a:p>
          <a:p>
            <a:endParaRPr lang="en-AU" altLang="zh-CN" dirty="0">
              <a:solidFill>
                <a:schemeClr val="accent6"/>
              </a:solidFill>
            </a:endParaRPr>
          </a:p>
          <a:p>
            <a:r>
              <a:rPr lang="en-AU" dirty="0">
                <a:solidFill>
                  <a:schemeClr val="accent6"/>
                </a:solidFill>
              </a:rPr>
              <a:t>Nodes at all levels apart from d are </a:t>
            </a:r>
          </a:p>
          <a:p>
            <a:pPr marL="0" indent="0">
              <a:buNone/>
            </a:pPr>
            <a:r>
              <a:rPr lang="en-AU" dirty="0">
                <a:solidFill>
                  <a:schemeClr val="accent6"/>
                </a:solidFill>
              </a:rPr>
              <a:t>re-generated multiple times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698B9E-4994-441C-9F2A-EB33DC52BF67}"/>
              </a:ext>
            </a:extLst>
          </p:cNvPr>
          <p:cNvSpPr/>
          <p:nvPr/>
        </p:nvSpPr>
        <p:spPr>
          <a:xfrm>
            <a:off x="8674217" y="3313651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3D918C-CBF9-4935-AF85-9B169A0B1565}"/>
              </a:ext>
            </a:extLst>
          </p:cNvPr>
          <p:cNvSpPr/>
          <p:nvPr/>
        </p:nvSpPr>
        <p:spPr>
          <a:xfrm>
            <a:off x="7237767" y="418610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1E2427-FDA3-4090-8213-83667460E9A7}"/>
              </a:ext>
            </a:extLst>
          </p:cNvPr>
          <p:cNvSpPr/>
          <p:nvPr/>
        </p:nvSpPr>
        <p:spPr>
          <a:xfrm>
            <a:off x="10037242" y="422994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66A93B-3490-4CAF-B155-02AF1CF032C7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7982454" y="3948548"/>
            <a:ext cx="769588" cy="365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69DF2D-5E66-4853-BF6E-1D72A56216ED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9496729" y="3919515"/>
            <a:ext cx="668281" cy="438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F1BEF2F-584A-4FAE-815D-86AEB2E9DEFC}"/>
              </a:ext>
            </a:extLst>
          </p:cNvPr>
          <p:cNvSpPr/>
          <p:nvPr/>
        </p:nvSpPr>
        <p:spPr>
          <a:xfrm>
            <a:off x="6365312" y="5058561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56995B-3D9F-4875-B0A5-435DE0432639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7109999" y="4930793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DB51105-16BD-431C-8CBD-E2F18E5A0632}"/>
              </a:ext>
            </a:extLst>
          </p:cNvPr>
          <p:cNvSpPr/>
          <p:nvPr/>
        </p:nvSpPr>
        <p:spPr>
          <a:xfrm>
            <a:off x="8060278" y="511345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C814F1-D001-4747-A968-30FAFA90F265}"/>
              </a:ext>
            </a:extLst>
          </p:cNvPr>
          <p:cNvCxnSpPr>
            <a:cxnSpLocks/>
          </p:cNvCxnSpPr>
          <p:nvPr/>
        </p:nvCxnSpPr>
        <p:spPr>
          <a:xfrm flipH="1" flipV="1">
            <a:off x="7982454" y="4930793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322BE57-DA57-429E-A82C-7E23D1D59D4C}"/>
              </a:ext>
            </a:extLst>
          </p:cNvPr>
          <p:cNvSpPr/>
          <p:nvPr/>
        </p:nvSpPr>
        <p:spPr>
          <a:xfrm>
            <a:off x="10937578" y="5038517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E75BC0-74E3-481E-8184-9375B01615F7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10809810" y="4910749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C9D1EA7-990B-44ED-8D6D-D6F9351451AE}"/>
              </a:ext>
            </a:extLst>
          </p:cNvPr>
          <p:cNvSpPr/>
          <p:nvPr/>
        </p:nvSpPr>
        <p:spPr>
          <a:xfrm>
            <a:off x="9192668" y="511345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BBD2AD-F2BB-448A-81C9-8F403FD3396E}"/>
              </a:ext>
            </a:extLst>
          </p:cNvPr>
          <p:cNvCxnSpPr>
            <a:cxnSpLocks/>
            <a:stCxn id="19" idx="7"/>
          </p:cNvCxnSpPr>
          <p:nvPr/>
        </p:nvCxnSpPr>
        <p:spPr>
          <a:xfrm flipV="1">
            <a:off x="9937355" y="4985688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650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zh-CN" dirty="0"/>
              <a:t>Recall the iterative deepening search (IDS) strategy from lectures.</a:t>
            </a:r>
          </a:p>
          <a:p>
            <a:r>
              <a:rPr lang="en-AU" altLang="zh-CN" dirty="0"/>
              <a:t>(a) Derive the time complexity of iterative deepening search on a graph with branching factor b and minimum goal depth d.</a:t>
            </a:r>
          </a:p>
          <a:p>
            <a:r>
              <a:rPr lang="en-AU" altLang="zh-CN" dirty="0">
                <a:solidFill>
                  <a:schemeClr val="accent6"/>
                </a:solidFill>
              </a:rPr>
              <a:t>D = </a:t>
            </a:r>
            <a:r>
              <a:rPr lang="en-US" altLang="zh-CN" dirty="0">
                <a:solidFill>
                  <a:schemeClr val="accent6"/>
                </a:solidFill>
              </a:rPr>
              <a:t>d</a:t>
            </a:r>
            <a:endParaRPr lang="en-AU" altLang="zh-CN" dirty="0">
              <a:solidFill>
                <a:schemeClr val="accent6"/>
              </a:solidFill>
            </a:endParaRPr>
          </a:p>
          <a:p>
            <a:r>
              <a:rPr lang="en-AU" altLang="zh-CN" dirty="0">
                <a:solidFill>
                  <a:schemeClr val="accent6"/>
                </a:solidFill>
              </a:rPr>
              <a:t>d*b^0 + (d-1)*b^1 + (d-2)*b^2 …+</a:t>
            </a:r>
            <a:r>
              <a:rPr lang="en-AU" altLang="zh-CN" dirty="0" err="1">
                <a:solidFill>
                  <a:schemeClr val="accent6"/>
                </a:solidFill>
              </a:rPr>
              <a:t>b^d</a:t>
            </a:r>
            <a:r>
              <a:rPr lang="en-AU" altLang="zh-CN" dirty="0">
                <a:solidFill>
                  <a:schemeClr val="accent6"/>
                </a:solidFill>
              </a:rPr>
              <a:t>  </a:t>
            </a:r>
          </a:p>
          <a:p>
            <a:endParaRPr lang="en-AU" altLang="zh-CN" dirty="0">
              <a:solidFill>
                <a:schemeClr val="accent6"/>
              </a:solidFill>
            </a:endParaRPr>
          </a:p>
          <a:p>
            <a:r>
              <a:rPr lang="en-AU" altLang="zh-CN" dirty="0">
                <a:solidFill>
                  <a:schemeClr val="accent6"/>
                </a:solidFill>
              </a:rPr>
              <a:t>Total time complexity:</a:t>
            </a:r>
          </a:p>
          <a:p>
            <a:pPr marL="0" indent="0">
              <a:buNone/>
            </a:pPr>
            <a:endParaRPr lang="en-AU" altLang="zh-CN" dirty="0">
              <a:solidFill>
                <a:schemeClr val="accent6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698B9E-4994-441C-9F2A-EB33DC52BF67}"/>
              </a:ext>
            </a:extLst>
          </p:cNvPr>
          <p:cNvSpPr/>
          <p:nvPr/>
        </p:nvSpPr>
        <p:spPr>
          <a:xfrm>
            <a:off x="8674217" y="3313651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3D918C-CBF9-4935-AF85-9B169A0B1565}"/>
              </a:ext>
            </a:extLst>
          </p:cNvPr>
          <p:cNvSpPr/>
          <p:nvPr/>
        </p:nvSpPr>
        <p:spPr>
          <a:xfrm>
            <a:off x="7237767" y="418610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1E2427-FDA3-4090-8213-83667460E9A7}"/>
              </a:ext>
            </a:extLst>
          </p:cNvPr>
          <p:cNvSpPr/>
          <p:nvPr/>
        </p:nvSpPr>
        <p:spPr>
          <a:xfrm>
            <a:off x="10037242" y="422994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66A93B-3490-4CAF-B155-02AF1CF032C7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7982454" y="3948548"/>
            <a:ext cx="769588" cy="365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69DF2D-5E66-4853-BF6E-1D72A56216ED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9496729" y="3919515"/>
            <a:ext cx="668281" cy="438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F1BEF2F-584A-4FAE-815D-86AEB2E9DEFC}"/>
              </a:ext>
            </a:extLst>
          </p:cNvPr>
          <p:cNvSpPr/>
          <p:nvPr/>
        </p:nvSpPr>
        <p:spPr>
          <a:xfrm>
            <a:off x="6365312" y="5058561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56995B-3D9F-4875-B0A5-435DE0432639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7109999" y="4930793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DB51105-16BD-431C-8CBD-E2F18E5A0632}"/>
              </a:ext>
            </a:extLst>
          </p:cNvPr>
          <p:cNvSpPr/>
          <p:nvPr/>
        </p:nvSpPr>
        <p:spPr>
          <a:xfrm>
            <a:off x="8060278" y="511345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C814F1-D001-4747-A968-30FAFA90F265}"/>
              </a:ext>
            </a:extLst>
          </p:cNvPr>
          <p:cNvCxnSpPr>
            <a:cxnSpLocks/>
          </p:cNvCxnSpPr>
          <p:nvPr/>
        </p:nvCxnSpPr>
        <p:spPr>
          <a:xfrm flipH="1" flipV="1">
            <a:off x="7982454" y="4930793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322BE57-DA57-429E-A82C-7E23D1D59D4C}"/>
              </a:ext>
            </a:extLst>
          </p:cNvPr>
          <p:cNvSpPr/>
          <p:nvPr/>
        </p:nvSpPr>
        <p:spPr>
          <a:xfrm>
            <a:off x="10937578" y="5038517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E75BC0-74E3-481E-8184-9375B01615F7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10809810" y="4910749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C9D1EA7-990B-44ED-8D6D-D6F9351451AE}"/>
              </a:ext>
            </a:extLst>
          </p:cNvPr>
          <p:cNvSpPr/>
          <p:nvPr/>
        </p:nvSpPr>
        <p:spPr>
          <a:xfrm>
            <a:off x="9192668" y="511345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BBD2AD-F2BB-448A-81C9-8F403FD3396E}"/>
              </a:ext>
            </a:extLst>
          </p:cNvPr>
          <p:cNvCxnSpPr>
            <a:cxnSpLocks/>
            <a:stCxn id="19" idx="7"/>
          </p:cNvCxnSpPr>
          <p:nvPr/>
        </p:nvCxnSpPr>
        <p:spPr>
          <a:xfrm flipV="1">
            <a:off x="9937355" y="4985688"/>
            <a:ext cx="255536" cy="25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CF8E660-2072-4299-85E1-E840DF40F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69" y="5433760"/>
            <a:ext cx="5324072" cy="49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93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E5BEA-F003-4BBA-880B-6B41B788C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altLang="zh-CN" dirty="0"/>
                  <a:t>Recall the iterative deepening search (IDS) strategy from lectures.</a:t>
                </a:r>
              </a:p>
              <a:p>
                <a:r>
                  <a:rPr lang="en-AU" altLang="zh-CN" dirty="0"/>
                  <a:t>(b) Can you think of a situation where IDS performs much worse than regular depth-first search?</a:t>
                </a:r>
              </a:p>
              <a:p>
                <a:r>
                  <a:rPr lang="en-AU" altLang="zh-CN" dirty="0">
                    <a:solidFill>
                      <a:schemeClr val="accent6"/>
                    </a:solidFill>
                  </a:rPr>
                  <a:t>DFS -&gt; d iteration</a:t>
                </a:r>
              </a:p>
              <a:p>
                <a:r>
                  <a:rPr lang="en-AU" altLang="zh-CN" dirty="0">
                    <a:solidFill>
                      <a:schemeClr val="accent6"/>
                    </a:solidFill>
                  </a:rPr>
                  <a:t>IDS -&gt; 1 + 2 + 3 … + n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altLang="zh-CN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AU" altLang="zh-CN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altLang="zh-CN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AU" altLang="zh-CN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AU" altLang="zh-CN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altLang="zh-CN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zh-CN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altLang="zh-CN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altLang="zh-CN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AU" altLang="zh-CN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altLang="zh-CN" dirty="0">
                    <a:solidFill>
                      <a:schemeClr val="accent6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E5BEA-F003-4BBA-880B-6B41B788C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6C03B1-BD90-4EB6-955C-D4B52C44A8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0" t="42936"/>
          <a:stretch/>
        </p:blipFill>
        <p:spPr>
          <a:xfrm>
            <a:off x="7701093" y="3154006"/>
            <a:ext cx="3473041" cy="349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0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21A7E-AA2C-51DA-9F85-E9F47FEA5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D2040-15F8-6A2F-7CFF-71B6E773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6544CA-0D21-55A6-3B1A-2D85A0296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>
                <a:ea typeface="Calibri"/>
                <a:cs typeface="Calibri"/>
              </a:rPr>
              <a:t>(c) BFS and IDS are not optimal in general. State a necessary condition on the cost function g : paths → R for both methods to be optimal.</a:t>
            </a:r>
          </a:p>
          <a:p>
            <a:endParaRPr lang="en-AU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AU" b="1" dirty="0">
                <a:solidFill>
                  <a:schemeClr val="accent6"/>
                </a:solidFill>
              </a:rPr>
              <a:t>Why BFS and IDS May Not Be Optimal？</a:t>
            </a:r>
            <a:endParaRPr lang="en-AU" b="1">
              <a:solidFill>
                <a:schemeClr val="accent6"/>
              </a:solidFill>
              <a:ea typeface="Calibri"/>
              <a:cs typeface="Calibri"/>
            </a:endParaRPr>
          </a:p>
          <a:p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BFS and IDS only care about the number of steps (path depth).</a:t>
            </a:r>
            <a:endParaRPr lang="en-AU">
              <a:solidFill>
                <a:schemeClr val="accent6"/>
              </a:solidFill>
              <a:ea typeface="Calibri"/>
              <a:cs typeface="Calibri"/>
            </a:endParaRPr>
          </a:p>
          <a:p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They always choose the shortest path in terms of steps, but not necessarily the lowest-cost path.</a:t>
            </a:r>
            <a:endParaRPr lang="en-AU">
              <a:solidFill>
                <a:schemeClr val="accent6"/>
              </a:solidFill>
              <a:ea typeface="Calibri"/>
              <a:cs typeface="Calibri"/>
            </a:endParaRPr>
          </a:p>
          <a:p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If longer paths have a lower cost, BFS and IDS may select the wrong path.</a:t>
            </a:r>
            <a:endParaRPr lang="en-AU" dirty="0">
              <a:solidFill>
                <a:schemeClr val="accent6"/>
              </a:solidFill>
              <a:ea typeface="Calibri" panose="020F0502020204030204"/>
              <a:cs typeface="Calibri" panose="020F0502020204030204"/>
            </a:endParaRPr>
          </a:p>
          <a:p>
            <a:endParaRPr lang="en-A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245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7A25C-61CF-5E18-0469-3AE3436F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B7517-F869-A0B2-B2B5-A1E05A4E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DCCAD-A1C6-7C18-CB8F-7CBE866ED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AU" dirty="0">
                <a:ea typeface="Calibri"/>
                <a:cs typeface="Calibri"/>
              </a:rPr>
              <a:t>(c) BFS and IDS are not optimal in general. State a necessary condition on the cost function g : paths → R for both methods to be optimal.</a:t>
            </a:r>
          </a:p>
          <a:p>
            <a:endParaRPr lang="en-AU" dirty="0">
              <a:ea typeface="Calibri"/>
              <a:cs typeface="Calibri"/>
            </a:endParaRPr>
          </a:p>
          <a:p>
            <a:pPr>
              <a:buNone/>
            </a:pPr>
            <a:r>
              <a:rPr lang="en-AU" b="1" dirty="0">
                <a:solidFill>
                  <a:schemeClr val="accent6"/>
                </a:solidFill>
              </a:rPr>
              <a:t>Necessary Condition: Cost Should Not Decrease</a:t>
            </a:r>
            <a:endParaRPr lang="en-AU" dirty="0">
              <a:solidFill>
                <a:schemeClr val="accent6"/>
              </a:solidFill>
            </a:endParaRPr>
          </a:p>
          <a:p>
            <a:pPr>
              <a:buFont typeface="Arial"/>
              <a:buChar char="•"/>
            </a:pP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If a path gets cheaper as it gets longer, BFS and IDS might make a mistake.</a:t>
            </a:r>
            <a:endParaRPr lang="en-AU">
              <a:solidFill>
                <a:schemeClr val="accent6"/>
              </a:solidFill>
              <a:ea typeface="Calibri"/>
              <a:cs typeface="Calibri"/>
            </a:endParaRPr>
          </a:p>
          <a:p>
            <a:pPr>
              <a:buFont typeface="Arial"/>
            </a:pP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To guarantee that BFS and IDS always find the optimal path, the cost function must be "non-decreasing." </a:t>
            </a:r>
            <a:endParaRPr lang="en-AU">
              <a:solidFill>
                <a:schemeClr val="accent6"/>
              </a:solidFill>
              <a:ea typeface="Calibri"/>
              <a:cs typeface="Calibri"/>
            </a:endParaRPr>
          </a:p>
          <a:p>
            <a:pPr marL="971550" lvl="1" indent="-285750">
              <a:buFont typeface="Arial"/>
            </a:pP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This means that going deeper should not result in a lower cost.</a:t>
            </a:r>
            <a:endParaRPr lang="en-AU">
              <a:solidFill>
                <a:schemeClr val="accent6"/>
              </a:solidFill>
              <a:ea typeface="Calibri"/>
              <a:cs typeface="Calibri"/>
            </a:endParaRPr>
          </a:p>
          <a:p>
            <a:pPr marL="971550" lvl="1" indent="-285750">
              <a:buFont typeface="Arial"/>
            </a:pP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The cost can stay the same or increase, but never decrease.</a:t>
            </a:r>
          </a:p>
          <a:p>
            <a:pPr marL="0" indent="0">
              <a:buNone/>
            </a:pPr>
            <a:endParaRPr lang="en-AU" b="1" dirty="0">
              <a:solidFill>
                <a:schemeClr val="accent6"/>
              </a:solidFill>
              <a:ea typeface="Calibri"/>
              <a:cs typeface="Calibri"/>
            </a:endParaRPr>
          </a:p>
          <a:p>
            <a:endParaRPr lang="en-A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6163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7713B-6A25-23A4-8818-ED67A64D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59A9-9D10-6302-6000-CE4B4C85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Iterative Deepening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8CACC-ECE1-5E92-BA84-ABAFE13EE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>
                <a:ea typeface="Calibri"/>
                <a:cs typeface="Calibri"/>
              </a:rPr>
              <a:t>(c) BFS and IDS are not optimal in general. State a necessary condition on the cost function g : paths → R for both methods to be optimal.</a:t>
            </a:r>
          </a:p>
          <a:p>
            <a:endParaRPr lang="en-AU" dirty="0">
              <a:ea typeface="Calibri"/>
              <a:cs typeface="Calibri"/>
            </a:endParaRPr>
          </a:p>
          <a:p>
            <a:pPr>
              <a:buNone/>
            </a:pPr>
            <a:endParaRPr lang="en-AU" b="1" dirty="0">
              <a:solidFill>
                <a:schemeClr val="accent6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AU" b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AU" dirty="0">
              <a:ea typeface="Calibri"/>
              <a:cs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830B7C-380A-B7A7-C6D5-F2BF6DB98644}"/>
              </a:ext>
            </a:extLst>
          </p:cNvPr>
          <p:cNvSpPr/>
          <p:nvPr/>
        </p:nvSpPr>
        <p:spPr>
          <a:xfrm>
            <a:off x="6649914" y="3136621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92E2E0-66CF-BC0B-FB9D-C1B5123F87E5}"/>
              </a:ext>
            </a:extLst>
          </p:cNvPr>
          <p:cNvSpPr/>
          <p:nvPr/>
        </p:nvSpPr>
        <p:spPr>
          <a:xfrm>
            <a:off x="3489343" y="3139317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DFD0C4-40A6-05AD-B404-CE517574A1B0}"/>
              </a:ext>
            </a:extLst>
          </p:cNvPr>
          <p:cNvSpPr/>
          <p:nvPr/>
        </p:nvSpPr>
        <p:spPr>
          <a:xfrm>
            <a:off x="5111181" y="313697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28A3F6-2DBA-8212-DA6F-85DFD4FE9B53}"/>
              </a:ext>
            </a:extLst>
          </p:cNvPr>
          <p:cNvSpPr/>
          <p:nvPr/>
        </p:nvSpPr>
        <p:spPr>
          <a:xfrm>
            <a:off x="1862585" y="4250380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E6C0E94-59E1-40EB-B08F-AB302F261C43}"/>
              </a:ext>
            </a:extLst>
          </p:cNvPr>
          <p:cNvSpPr/>
          <p:nvPr/>
        </p:nvSpPr>
        <p:spPr>
          <a:xfrm>
            <a:off x="5019975" y="5305880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b="1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AA138A6-9023-2E4E-1276-3BE3B812DB68}"/>
              </a:ext>
            </a:extLst>
          </p:cNvPr>
          <p:cNvSpPr/>
          <p:nvPr/>
        </p:nvSpPr>
        <p:spPr>
          <a:xfrm>
            <a:off x="7984245" y="4251396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2FEDD3-35FA-32D4-2BFE-6C009A6B8D42}"/>
              </a:ext>
            </a:extLst>
          </p:cNvPr>
          <p:cNvCxnSpPr>
            <a:cxnSpLocks/>
          </p:cNvCxnSpPr>
          <p:nvPr/>
        </p:nvCxnSpPr>
        <p:spPr>
          <a:xfrm flipV="1">
            <a:off x="2309787" y="3602186"/>
            <a:ext cx="1169831" cy="634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D8925C7-2689-A80F-EDB3-81D7331238BD}"/>
              </a:ext>
            </a:extLst>
          </p:cNvPr>
          <p:cNvCxnSpPr>
            <a:cxnSpLocks/>
          </p:cNvCxnSpPr>
          <p:nvPr/>
        </p:nvCxnSpPr>
        <p:spPr>
          <a:xfrm>
            <a:off x="4364877" y="3598057"/>
            <a:ext cx="746500" cy="4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6B94EC-549F-7F5E-C026-B0DBA1096FC2}"/>
              </a:ext>
            </a:extLst>
          </p:cNvPr>
          <p:cNvCxnSpPr>
            <a:cxnSpLocks/>
          </p:cNvCxnSpPr>
          <p:nvPr/>
        </p:nvCxnSpPr>
        <p:spPr>
          <a:xfrm>
            <a:off x="5981239" y="3598056"/>
            <a:ext cx="677228" cy="4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03D8151-84C1-11B5-FBB0-3182E7819E79}"/>
              </a:ext>
            </a:extLst>
          </p:cNvPr>
          <p:cNvCxnSpPr>
            <a:cxnSpLocks/>
          </p:cNvCxnSpPr>
          <p:nvPr/>
        </p:nvCxnSpPr>
        <p:spPr>
          <a:xfrm>
            <a:off x="7536028" y="3582663"/>
            <a:ext cx="731106" cy="750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362ACB-1FB1-AB21-AD11-F58086F19895}"/>
              </a:ext>
            </a:extLst>
          </p:cNvPr>
          <p:cNvCxnSpPr>
            <a:cxnSpLocks/>
          </p:cNvCxnSpPr>
          <p:nvPr/>
        </p:nvCxnSpPr>
        <p:spPr>
          <a:xfrm flipV="1">
            <a:off x="5911968" y="5133880"/>
            <a:ext cx="2493712" cy="596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3753D2-63B9-B87A-B9AA-65AEB1191688}"/>
              </a:ext>
            </a:extLst>
          </p:cNvPr>
          <p:cNvCxnSpPr>
            <a:cxnSpLocks/>
          </p:cNvCxnSpPr>
          <p:nvPr/>
        </p:nvCxnSpPr>
        <p:spPr>
          <a:xfrm>
            <a:off x="2302088" y="5137449"/>
            <a:ext cx="2709228" cy="666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A98D502-09E5-B76C-B232-DFFB8AC8E0A3}"/>
              </a:ext>
            </a:extLst>
          </p:cNvPr>
          <p:cNvSpPr txBox="1"/>
          <p:nvPr/>
        </p:nvSpPr>
        <p:spPr>
          <a:xfrm>
            <a:off x="4888750" y="4759825"/>
            <a:ext cx="13178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Cost: 5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1AE97-7024-3491-1079-E9A7DED19EFE}"/>
              </a:ext>
            </a:extLst>
          </p:cNvPr>
          <p:cNvSpPr txBox="1"/>
          <p:nvPr/>
        </p:nvSpPr>
        <p:spPr>
          <a:xfrm>
            <a:off x="5004204" y="2766309"/>
            <a:ext cx="13178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Cost: 3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8D76FE-6A9B-D684-DDB0-78CEACBE1501}"/>
              </a:ext>
            </a:extLst>
          </p:cNvPr>
          <p:cNvSpPr txBox="1"/>
          <p:nvPr/>
        </p:nvSpPr>
        <p:spPr>
          <a:xfrm>
            <a:off x="9063318" y="2904565"/>
            <a:ext cx="2743200" cy="20313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If longer paths are cheaper, BFS and IDS may fail</a:t>
            </a:r>
          </a:p>
          <a:p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 To ensure BFS and IDS are optimal, the path cost must never decrease as depth increases.</a:t>
            </a:r>
            <a:endParaRPr lang="en-US">
              <a:solidFill>
                <a:schemeClr val="accent6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18897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616A-F0DF-41FE-BEDF-E7C2C67C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 Directed Graphs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5BEA-F003-4BBA-880B-6B41B788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AU" altLang="zh-CN" dirty="0">
                <a:ea typeface="等线"/>
                <a:cs typeface="+mn-lt"/>
              </a:rPr>
              <a:t>Your tutor’s job is to arrange n ill-behaved children in a straight line, facing front. They are given a list of m statements of the form ”child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hates child j”. If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hates j, they cannot put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somewhere behind j, because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is then capable of throwing something at j.</a:t>
            </a:r>
            <a:br>
              <a:rPr lang="en-AU" altLang="zh-CN" dirty="0">
                <a:ea typeface="等线"/>
                <a:cs typeface="+mn-lt"/>
              </a:rPr>
            </a:br>
            <a:r>
              <a:rPr lang="en-AU" altLang="zh-CN" dirty="0">
                <a:ea typeface="等线"/>
                <a:cs typeface="+mn-lt"/>
              </a:rPr>
              <a:t>(a) They have enlisted your help to design an algorithm which orders the line (or says it is not possible), using depth-first search. Formulate this problem as a graph algorithm and </a:t>
            </a:r>
            <a:r>
              <a:rPr lang="en-AU" altLang="zh-CN" dirty="0" err="1">
                <a:ea typeface="等线"/>
                <a:cs typeface="+mn-lt"/>
              </a:rPr>
              <a:t>analyze</a:t>
            </a:r>
            <a:r>
              <a:rPr lang="en-AU" altLang="zh-CN" dirty="0">
                <a:ea typeface="等线"/>
                <a:cs typeface="+mn-lt"/>
              </a:rPr>
              <a:t> its running time.</a:t>
            </a:r>
            <a:br>
              <a:rPr lang="en-AU" altLang="zh-CN" dirty="0">
                <a:ea typeface="等线"/>
                <a:cs typeface="+mn-lt"/>
              </a:rPr>
            </a:br>
            <a:r>
              <a:rPr lang="en-AU" altLang="zh-CN" dirty="0">
                <a:ea typeface="等线"/>
                <a:cs typeface="+mn-lt"/>
              </a:rPr>
              <a:t>(b) For the class photo, the children must be arranged in rows such that if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hates j,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must be in a lower-numbered row than j, otherwise it is possible for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to drop something on j. Design an efficient algorithm to find the minimum number of rows needed</a:t>
            </a:r>
            <a:endParaRPr lang="en-US" altLang="zh-CN" dirty="0">
              <a:solidFill>
                <a:schemeClr val="accent6"/>
              </a:solidFill>
              <a:ea typeface="等线" panose="02010600030101010101" pitchFamily="2" charset="-122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54510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2372-075A-DD6B-DE1E-4AE82324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5539-88B5-854A-CC40-5F3EA1E9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 Directed Graphs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3F565-682D-9A41-998A-DC96DA19C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AU" altLang="zh-CN" dirty="0">
                <a:ea typeface="等线"/>
                <a:cs typeface="+mn-lt"/>
              </a:rPr>
              <a:t>Your tutor’s job is to arrange n ill-behaved children in a straight line, facing front. They are given a list of m statements of the form ”child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hates child j”. If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hates j, they cannot put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somewhere behind j, because </a:t>
            </a:r>
            <a:r>
              <a:rPr lang="en-AU" altLang="zh-CN" dirty="0" err="1">
                <a:ea typeface="等线"/>
                <a:cs typeface="+mn-lt"/>
              </a:rPr>
              <a:t>i</a:t>
            </a:r>
            <a:r>
              <a:rPr lang="en-AU" altLang="zh-CN" dirty="0">
                <a:ea typeface="等线"/>
                <a:cs typeface="+mn-lt"/>
              </a:rPr>
              <a:t> is then capable of throwing something at j.</a:t>
            </a:r>
            <a:br>
              <a:rPr lang="en-AU" altLang="zh-CN" dirty="0">
                <a:ea typeface="等线"/>
                <a:cs typeface="+mn-lt"/>
              </a:rPr>
            </a:b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Vertices = Children</a:t>
            </a:r>
            <a:endParaRPr lang="en-AU" altLang="zh-CN" dirty="0">
              <a:solidFill>
                <a:schemeClr val="accent6"/>
              </a:solidFill>
              <a:ea typeface="等线" panose="02010600030101010101" pitchFamily="2" charset="-122"/>
              <a:cs typeface="+mn-lt"/>
            </a:endParaRPr>
          </a:p>
          <a:p>
            <a:pPr marL="0" indent="0">
              <a:buNone/>
            </a:pP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Edges (</a:t>
            </a:r>
            <a:r>
              <a:rPr lang="en-AU" dirty="0" err="1">
                <a:solidFill>
                  <a:schemeClr val="accent6"/>
                </a:solidFill>
                <a:ea typeface="+mn-lt"/>
                <a:cs typeface="+mn-lt"/>
              </a:rPr>
              <a:t>i</a:t>
            </a: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 → j) = "</a:t>
            </a:r>
            <a:r>
              <a:rPr lang="en-AU" dirty="0" err="1">
                <a:solidFill>
                  <a:schemeClr val="accent6"/>
                </a:solidFill>
                <a:ea typeface="+mn-lt"/>
                <a:cs typeface="+mn-lt"/>
              </a:rPr>
              <a:t>i</a:t>
            </a: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 hates j" (</a:t>
            </a:r>
            <a:r>
              <a:rPr lang="en-AU" dirty="0" err="1">
                <a:solidFill>
                  <a:schemeClr val="accent6"/>
                </a:solidFill>
                <a:ea typeface="+mn-lt"/>
                <a:cs typeface="+mn-lt"/>
              </a:rPr>
              <a:t>i</a:t>
            </a: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 must be placed before j)</a:t>
            </a:r>
            <a:endParaRPr lang="en-AU" dirty="0">
              <a:solidFill>
                <a:schemeClr val="accent6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AU" dirty="0">
                <a:solidFill>
                  <a:schemeClr val="accent6"/>
                </a:solidFill>
                <a:ea typeface="+mn-lt"/>
                <a:cs typeface="+mn-lt"/>
              </a:rPr>
              <a:t>If the graph contains a cycle → No valid ordering exists!</a:t>
            </a:r>
            <a:endParaRPr lang="en-AU" dirty="0">
              <a:solidFill>
                <a:schemeClr val="accent6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br>
              <a:rPr lang="en-AU" altLang="zh-CN" dirty="0">
                <a:ea typeface="等线"/>
                <a:cs typeface="+mn-lt"/>
              </a:rPr>
            </a:br>
            <a:endParaRPr lang="en-AU" altLang="zh-CN">
              <a:ea typeface="等线" panose="02010600030101010101" pitchFamily="2" charset="-122"/>
              <a:cs typeface="+mn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4F963C-CEE2-03DD-27A7-84BB07F4DC23}"/>
              </a:ext>
            </a:extLst>
          </p:cNvPr>
          <p:cNvSpPr/>
          <p:nvPr/>
        </p:nvSpPr>
        <p:spPr>
          <a:xfrm>
            <a:off x="5225010" y="5164261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3000" dirty="0">
                <a:solidFill>
                  <a:schemeClr val="bg1"/>
                </a:solidFill>
                <a:ea typeface="Calibri"/>
                <a:cs typeface="Calibri"/>
              </a:rPr>
              <a:t>J</a:t>
            </a:r>
            <a:endParaRPr lang="en-AU" sz="3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167FDD-4870-7858-54D5-42622CA92E16}"/>
              </a:ext>
            </a:extLst>
          </p:cNvPr>
          <p:cNvSpPr/>
          <p:nvPr/>
        </p:nvSpPr>
        <p:spPr>
          <a:xfrm>
            <a:off x="2744529" y="5167602"/>
            <a:ext cx="872455" cy="87245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3000" dirty="0">
                <a:solidFill>
                  <a:schemeClr val="bg1"/>
                </a:solidFill>
                <a:ea typeface="Calibri"/>
                <a:cs typeface="Calibri"/>
              </a:rPr>
              <a:t>I</a:t>
            </a:r>
            <a:endParaRPr lang="en-AU" sz="30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6320EF-0538-4B00-0EF6-D124573CC515}"/>
              </a:ext>
            </a:extLst>
          </p:cNvPr>
          <p:cNvCxnSpPr/>
          <p:nvPr/>
        </p:nvCxnSpPr>
        <p:spPr>
          <a:xfrm flipV="1">
            <a:off x="3617838" y="5587169"/>
            <a:ext cx="1620287" cy="22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49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5812-B94C-133D-68C9-84F59C0B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3A65-E3D8-60AC-E670-222AC21C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 Directed Graphs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E642B0-5451-F7A6-7AFB-E80A4843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423" y="1691569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Step 1: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 Convert the problem into a 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DAG (Directed Acyclic Graph)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accent6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Step 2: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 Perform 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Topological Sorting using DFS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: </a:t>
            </a:r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Use a 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stack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 to store sorted nodes.</a:t>
            </a: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Perform 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DFS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 and push nodes onto the stack 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only after processing all descendants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pPr lvl="1"/>
            <a:r>
              <a:rPr lang="en-US">
                <a:solidFill>
                  <a:schemeClr val="accent6"/>
                </a:solidFill>
                <a:ea typeface="+mn-lt"/>
                <a:cs typeface="+mn-lt"/>
              </a:rPr>
              <a:t>Pop nodes from the stack to get the correct order.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Key Insight:</a:t>
            </a:r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This ensures that if </a:t>
            </a:r>
            <a:r>
              <a:rPr lang="en-US" b="1" dirty="0" err="1">
                <a:solidFill>
                  <a:schemeClr val="accent6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 hates j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, then </a:t>
            </a:r>
            <a:r>
              <a:rPr lang="en-US" b="1" dirty="0" err="1">
                <a:solidFill>
                  <a:schemeClr val="accent6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 always appears before j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 in the final order.</a:t>
            </a:r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Time Complexity: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 O(m + n)</a:t>
            </a:r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 descr="Directed Acyclic Graph: Importance, Components &amp; Application">
            <a:extLst>
              <a:ext uri="{FF2B5EF4-FFF2-40B4-BE49-F238E27FC236}">
                <a16:creationId xmlns:a16="http://schemas.microsoft.com/office/drawing/2014/main" id="{C612B132-CDAF-C4FA-5C34-558EABBC0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1846" y="96309"/>
            <a:ext cx="2863143" cy="1599493"/>
          </a:xfrm>
          <a:prstGeom prst="rect">
            <a:avLst/>
          </a:prstGeom>
        </p:spPr>
      </p:pic>
      <p:pic>
        <p:nvPicPr>
          <p:cNvPr id="9" name="Picture 8" descr="Topological sorting of a graph | Mauricio Poppe">
            <a:extLst>
              <a:ext uri="{FF2B5EF4-FFF2-40B4-BE49-F238E27FC236}">
                <a16:creationId xmlns:a16="http://schemas.microsoft.com/office/drawing/2014/main" id="{04FD526E-8338-606A-A6BD-5425F48A5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178" y="4904779"/>
            <a:ext cx="5374921" cy="195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95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0C6C7-7405-F6FD-6FB6-5EC1FB6FE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25E7-03FC-8644-F1CD-2EF5CE88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 Directed Graphs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DCD0CF-FDCC-62CC-CD06-B31193EBB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423" y="1691569"/>
            <a:ext cx="105156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A valid ordering only exists if the graph is a DAG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.</a:t>
            </a:r>
          </a:p>
          <a:p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If the graph has a 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cycle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, it means 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there’s a contradiction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 (e.g., </a:t>
            </a:r>
            <a:r>
              <a:rPr lang="en-US" err="1">
                <a:solidFill>
                  <a:schemeClr val="accent6"/>
                </a:solidFill>
                <a:ea typeface="+mn-lt"/>
                <a:cs typeface="+mn-lt"/>
              </a:rPr>
              <a:t>i→j→k→i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 ).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In this case, </a:t>
            </a:r>
            <a:r>
              <a:rPr lang="en-US" b="1" dirty="0">
                <a:solidFill>
                  <a:schemeClr val="accent6"/>
                </a:solidFill>
                <a:ea typeface="+mn-lt"/>
                <a:cs typeface="+mn-lt"/>
              </a:rPr>
              <a:t>ordering is impossible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.</a:t>
            </a:r>
          </a:p>
          <a:p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accent6"/>
                </a:solidFill>
                <a:ea typeface="Calibri"/>
                <a:cs typeface="Calibri"/>
              </a:rPr>
              <a:t>Check this 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for demo </a:t>
            </a:r>
            <a:r>
              <a:rPr lang="en-US" dirty="0">
                <a:solidFill>
                  <a:schemeClr val="accent6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https://www.youtube.com/watch?v=n_yl2a6n7nM</a:t>
            </a:r>
          </a:p>
          <a:p>
            <a:endParaRPr lang="en-US" dirty="0">
              <a:solidFill>
                <a:schemeClr val="accent6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70AD47"/>
              </a:solidFill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3422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88466-6D0B-2E51-2C68-81D56ABB9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9041-FB4E-DCA1-1121-A59B6EB4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Discussion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B2391-1CF5-68A4-FE16-D846818B5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9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2DE9134FEAAF46804D5B2D239CA145" ma:contentTypeVersion="7" ma:contentTypeDescription="Create a new document." ma:contentTypeScope="" ma:versionID="a1e2d614d4eb42da90cf92e2614eaab6">
  <xsd:schema xmlns:xsd="http://www.w3.org/2001/XMLSchema" xmlns:xs="http://www.w3.org/2001/XMLSchema" xmlns:p="http://schemas.microsoft.com/office/2006/metadata/properties" xmlns:ns3="93ba72af-334d-48e8-911e-362e58019b18" xmlns:ns4="a7bc72a7-620b-4a51-84f5-0b818135963b" targetNamespace="http://schemas.microsoft.com/office/2006/metadata/properties" ma:root="true" ma:fieldsID="95cdff7cd26f8323e182575607710144" ns3:_="" ns4:_="">
    <xsd:import namespace="93ba72af-334d-48e8-911e-362e58019b18"/>
    <xsd:import namespace="a7bc72a7-620b-4a51-84f5-0b818135963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ba72af-334d-48e8-911e-362e58019b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72a7-620b-4a51-84f5-0b818135963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312900-7437-412C-B29E-EC12A91D3E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ABE725-2039-4151-8DCD-1DD3C63D53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ba72af-334d-48e8-911e-362e58019b18"/>
    <ds:schemaRef ds:uri="a7bc72a7-620b-4a51-84f5-0b81813596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BB6991-47E5-48E8-9A56-7C75F6F4D018}">
  <ds:schemaRefs>
    <ds:schemaRef ds:uri="http://purl.org/dc/dcmitype/"/>
    <ds:schemaRef ds:uri="http://purl.org/dc/terms/"/>
    <ds:schemaRef ds:uri="a7bc72a7-620b-4a51-84f5-0b818135963b"/>
    <ds:schemaRef ds:uri="http://purl.org/dc/elements/1.1/"/>
    <ds:schemaRef ds:uri="http://schemas.microsoft.com/office/2006/documentManagement/types"/>
    <ds:schemaRef ds:uri="93ba72af-334d-48e8-911e-362e58019b18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1656</Words>
  <Application>Microsoft Office PowerPoint</Application>
  <PresentationFormat>Widescreen</PresentationFormat>
  <Paragraphs>121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COMP30024  Artificial Intelligence</vt:lpstr>
      <vt:lpstr>Project Part A Released!</vt:lpstr>
      <vt:lpstr>Weekly Topic Review</vt:lpstr>
      <vt:lpstr>Weekly Topic Review</vt:lpstr>
      <vt:lpstr>Weekly Topic Review</vt:lpstr>
      <vt:lpstr>Weekly Topic Review</vt:lpstr>
      <vt:lpstr>Breadth-first search (BFS)</vt:lpstr>
      <vt:lpstr>Depth-first search (DFS)</vt:lpstr>
      <vt:lpstr>Iterative deepening search (IDS)</vt:lpstr>
      <vt:lpstr>Problems</vt:lpstr>
      <vt:lpstr>Problem 1 Toy Graphs </vt:lpstr>
      <vt:lpstr>Problem 1 Toy Graphs </vt:lpstr>
      <vt:lpstr>Problem 1 Toy Graphs </vt:lpstr>
      <vt:lpstr>Problem 1 Toy Graphs </vt:lpstr>
      <vt:lpstr>Problem 1 Toy Graphs </vt:lpstr>
      <vt:lpstr>Problem 1 Toy Graphs </vt:lpstr>
      <vt:lpstr>Problem 1 Toy Graphs </vt:lpstr>
      <vt:lpstr>Summary of BFS and DFS</vt:lpstr>
      <vt:lpstr>Problem 2 Iterative Deepening</vt:lpstr>
      <vt:lpstr>Problem 2 Iterative Deepening</vt:lpstr>
      <vt:lpstr>Problem 2 Iterative Deepening</vt:lpstr>
      <vt:lpstr>Problem 2 Iterative Deepening</vt:lpstr>
      <vt:lpstr>Problem 2 Iterative Deepening</vt:lpstr>
      <vt:lpstr>Problem 2 Iterative Deepening</vt:lpstr>
      <vt:lpstr>Problem 2 Iterative Deepening</vt:lpstr>
      <vt:lpstr>Problem 2 Iterative Deepening</vt:lpstr>
      <vt:lpstr>Problem 2 Iterative Deepening</vt:lpstr>
      <vt:lpstr>Problem 2 Iterative Deepening</vt:lpstr>
      <vt:lpstr>Problem 2 Iterative Deepening</vt:lpstr>
      <vt:lpstr>Problem 4 Directed Graphs</vt:lpstr>
      <vt:lpstr>Problem 4 Directed Graphs</vt:lpstr>
      <vt:lpstr>Problem 4 Directed Graphs</vt:lpstr>
      <vt:lpstr>Problem 4 Directed Graphs</vt:lpstr>
      <vt:lpstr>Project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COMP30024  Artificial Intelligence</dc:title>
  <dc:creator>Youran Zhou</dc:creator>
  <cp:lastModifiedBy>Youran Zhou</cp:lastModifiedBy>
  <cp:revision>218</cp:revision>
  <dcterms:created xsi:type="dcterms:W3CDTF">2022-03-06T05:15:59Z</dcterms:created>
  <dcterms:modified xsi:type="dcterms:W3CDTF">2025-03-21T04:46:24Z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0x010100492DE9134FEAAF46804D5B2D239CA145</vt:lpwstr>
  </property>
</Properties>
</file>